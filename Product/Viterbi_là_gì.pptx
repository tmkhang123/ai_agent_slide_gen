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jp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9144000" cy="6858000"/>
          </a:xfrm>
          <a:prstGeom prst="rect">
            <a:avLst/>
          </a:prstGeom>
        </p:spPr>
      </p:pic>
      <p:pic>
        <p:nvPicPr>
          <p:cNvPr id="3" name="Picture 2" descr="image.png"/>
          <p:cNvPicPr>
            <a:picLocks noChangeAspect="1"/>
          </p:cNvPicPr>
          <p:nvPr/>
        </p:nvPicPr>
        <p:blipFill>
          <a:blip r:embed="rId3"/>
          <a:stretch>
            <a:fillRect/>
          </a:stretch>
        </p:blipFill>
        <p:spPr>
          <a:xfrm>
            <a:off x="0" y="0"/>
            <a:ext cx="6583679" cy="6858000"/>
          </a:xfrm>
          <a:prstGeom prst="rect">
            <a:avLst/>
          </a:prstGeom>
        </p:spPr>
      </p:pic>
      <p:sp>
        <p:nvSpPr>
          <p:cNvPr id="4" name="Rectangle 3"/>
          <p:cNvSpPr/>
          <p:nvPr/>
        </p:nvSpPr>
        <p:spPr>
          <a:xfrm>
            <a:off x="0" y="0"/>
            <a:ext cx="164592" cy="6858000"/>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47472" y="2651760"/>
            <a:ext cx="5029200" cy="41148"/>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1051560"/>
            <a:ext cx="5212080" cy="1783080"/>
          </a:xfrm>
          <a:prstGeom prst="rect">
            <a:avLst/>
          </a:prstGeom>
          <a:noFill/>
        </p:spPr>
        <p:txBody>
          <a:bodyPr wrap="square">
            <a:spAutoFit/>
          </a:bodyPr>
          <a:lstStyle/>
          <a:p>
            <a:pPr algn="l"/>
            <a:r>
              <a:rPr sz="3400" b="1" i="0">
                <a:solidFill>
                  <a:srgbClr val="FFFFFF"/>
                </a:solidFill>
                <a:latin typeface="Calibri"/>
              </a:rPr>
              <a:t>Viterbi là gì?</a:t>
            </a:r>
          </a:p>
        </p:txBody>
      </p:sp>
      <p:sp>
        <p:nvSpPr>
          <p:cNvPr id="7" name="TextBox 6"/>
          <p:cNvSpPr txBox="1"/>
          <p:nvPr/>
        </p:nvSpPr>
        <p:spPr>
          <a:xfrm>
            <a:off x="502920" y="2926080"/>
            <a:ext cx="5212080" cy="1371600"/>
          </a:xfrm>
          <a:prstGeom prst="rect">
            <a:avLst/>
          </a:prstGeom>
          <a:noFill/>
        </p:spPr>
        <p:txBody>
          <a:bodyPr wrap="square">
            <a:spAutoFit/>
          </a:bodyPr>
          <a:lstStyle/>
          <a:p>
            <a:pPr algn="l"/>
            <a:r>
              <a:rPr sz="1500" b="0" i="1">
                <a:solidFill>
                  <a:srgbClr val="CADCFC"/>
                </a:solidFill>
                <a:latin typeface="Calibri"/>
              </a:rPr>
              <a:t>Bài thuyết trình do AI Agent biên soạn</a:t>
            </a:r>
          </a:p>
        </p:txBody>
      </p:sp>
      <p:sp>
        <p:nvSpPr>
          <p:cNvPr id="8" name="TextBox 7"/>
          <p:cNvSpPr txBox="1"/>
          <p:nvPr/>
        </p:nvSpPr>
        <p:spPr>
          <a:xfrm>
            <a:off x="502920" y="6355080"/>
            <a:ext cx="5212080" cy="320040"/>
          </a:xfrm>
          <a:prstGeom prst="rect">
            <a:avLst/>
          </a:prstGeom>
          <a:noFill/>
        </p:spPr>
        <p:txBody>
          <a:bodyPr wrap="square">
            <a:spAutoFit/>
          </a:bodyPr>
          <a:lstStyle/>
          <a:p>
            <a:r>
              <a:rPr sz="900" b="0" i="0">
                <a:solidFill>
                  <a:srgbClr val="CCCCDD"/>
                </a:solidFill>
                <a:latin typeface="Calibri"/>
              </a:rPr>
              <a:t>AI Slides Maker · Powered by Ollama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E2761"/>
        </a:solidFill>
        <a:effectLst/>
      </p:bgPr>
    </p:bg>
    <p:spTree>
      <p:nvGrpSpPr>
        <p:cNvPr id="1" name=""/>
        <p:cNvGrpSpPr/>
        <p:nvPr/>
      </p:nvGrpSpPr>
      <p:grpSpPr/>
      <p:sp>
        <p:nvSpPr>
          <p:cNvPr id="2" name="TextBox 1"/>
          <p:cNvSpPr txBox="1"/>
          <p:nvPr/>
        </p:nvSpPr>
        <p:spPr>
          <a:xfrm>
            <a:off x="457200" y="274320"/>
            <a:ext cx="8229600" cy="731520"/>
          </a:xfrm>
          <a:prstGeom prst="rect">
            <a:avLst/>
          </a:prstGeom>
          <a:noFill/>
        </p:spPr>
        <p:txBody>
          <a:bodyPr wrap="square">
            <a:spAutoFit/>
          </a:bodyPr>
          <a:lstStyle/>
          <a:p>
            <a:pPr algn="l"/>
            <a:r>
              <a:rPr sz="2400" b="1" i="0">
                <a:solidFill>
                  <a:srgbClr val="FFFFFF"/>
                </a:solidFill>
                <a:latin typeface="Calibri"/>
              </a:rPr>
              <a:t>**tổng quan về thuật toán Viterbi</a:t>
            </a:r>
          </a:p>
        </p:txBody>
      </p:sp>
      <p:sp>
        <p:nvSpPr>
          <p:cNvPr id="3" name="Rectangle 2"/>
          <p:cNvSpPr/>
          <p:nvPr/>
        </p:nvSpPr>
        <p:spPr>
          <a:xfrm>
            <a:off x="457200" y="1051560"/>
            <a:ext cx="8229600" cy="27432"/>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234440"/>
            <a:ext cx="4389120" cy="4937760"/>
          </a:xfrm>
          <a:prstGeom prst="rect">
            <a:avLst/>
          </a:prstGeom>
          <a:noFill/>
        </p:spPr>
        <p:txBody>
          <a:bodyPr wrap="square">
            <a:spAutoFit/>
          </a:bodyPr>
          <a:lstStyle/>
          <a:p>
            <a:pPr>
              <a:spcBef>
                <a:spcPts val="800"/>
              </a:spcBef>
              <a:spcAft>
                <a:spcPts val="300"/>
              </a:spcAft>
            </a:pPr>
            <a:r>
              <a:rPr sz="1500" b="1" i="0">
                <a:solidFill>
                  <a:srgbClr val="CADCFC"/>
                </a:solidFill>
                <a:latin typeface="Calibri"/>
              </a:rPr>
              <a:t>▪  </a:t>
            </a:r>
            <a:r>
              <a:rPr sz="1400" b="0" i="0">
                <a:solidFill>
                  <a:srgbClr val="FFFFFF"/>
                </a:solidFill>
                <a:latin typeface="Calibri"/>
              </a:rPr>
              <a:t>Kiểm tra tính thực chất:</a:t>
            </a:r>
          </a:p>
          <a:p>
            <a:pPr>
              <a:spcBef>
                <a:spcPts val="800"/>
              </a:spcBef>
              <a:spcAft>
                <a:spcPts val="300"/>
              </a:spcAft>
            </a:pPr>
            <a:r>
              <a:rPr sz="1500" b="1" i="0">
                <a:solidFill>
                  <a:srgbClr val="CADCFC"/>
                </a:solidFill>
                <a:latin typeface="Calibri"/>
              </a:rPr>
              <a:t>▪  </a:t>
            </a:r>
            <a:r>
              <a:rPr sz="1400" b="0" i="0">
                <a:solidFill>
                  <a:srgbClr val="FFFFFF"/>
                </a:solidFill>
                <a:latin typeface="Calibri"/>
              </a:rPr>
              <a:t>Thuật toán Viterbi là một phương pháp </a:t>
            </a:r>
            <a:r>
              <a:rPr sz="1400" b="1" i="0">
                <a:solidFill>
                  <a:srgbClr val="FFFFFF"/>
                </a:solidFill>
                <a:latin typeface="Calibri"/>
              </a:rPr>
              <a:t>tối ưu hóa động</a:t>
            </a:r>
            <a:r>
              <a:rPr sz="1400" b="0" i="0">
                <a:solidFill>
                  <a:srgbClr val="FFFFFF"/>
                </a:solidFill>
                <a:latin typeface="Calibri"/>
              </a:rPr>
              <a:t> được sử dụng rộng rãi trong Xử lý ngôn ngữ tự nhiên (NLP), giúp xác định trạng thái cuối cùng của hệ thống có khả năng cao nhất dựa trên thông tin về các trạng thái trước đó</a:t>
            </a:r>
          </a:p>
          <a:p>
            <a:pPr>
              <a:spcBef>
                <a:spcPts val="800"/>
              </a:spcBef>
              <a:spcAft>
                <a:spcPts val="300"/>
              </a:spcAft>
            </a:pPr>
            <a:r>
              <a:rPr sz="1500" b="1" i="0">
                <a:solidFill>
                  <a:srgbClr val="CADCFC"/>
                </a:solidFill>
                <a:latin typeface="Calibri"/>
              </a:rPr>
              <a:t>▪  </a:t>
            </a:r>
            <a:r>
              <a:rPr sz="1400" b="0" i="0">
                <a:solidFill>
                  <a:srgbClr val="FFFFFF"/>
                </a:solidFill>
                <a:latin typeface="Calibri"/>
              </a:rPr>
              <a:t>Thuật toán này được phát triển bởi Andrew J. Viterbi vào năm 1967 và ban đầu được áp dụng cho việc mã hóa và truyền dẫn dữ liệu, nhưng sau đó đã được mở rộng để ứng dụng trong lĩnh vực NLP</a:t>
            </a:r>
          </a:p>
          <a:p>
            <a:pPr>
              <a:spcBef>
                <a:spcPts val="800"/>
              </a:spcBef>
              <a:spcAft>
                <a:spcPts val="300"/>
              </a:spcAft>
            </a:pPr>
            <a:r>
              <a:rPr sz="1500" b="1" i="0">
                <a:solidFill>
                  <a:srgbClr val="CADCFC"/>
                </a:solidFill>
                <a:latin typeface="Calibri"/>
              </a:rPr>
              <a:t>▪  </a:t>
            </a:r>
            <a:r>
              <a:rPr sz="1400" b="0" i="0">
                <a:solidFill>
                  <a:srgbClr val="FFFFFF"/>
                </a:solidFill>
                <a:latin typeface="Calibri"/>
              </a:rPr>
              <a:t>Tính hiệu quả của thuật toán Viterbi nằm ở khả năng tính toán tốc độ cao và tiết kiệm về mặt không gian, nhờ đó nó có thể được sử dụng để xử lý các dữ liệu lớn và phức tạp</a:t>
            </a:r>
          </a:p>
          <a:p>
            <a:pPr>
              <a:spcBef>
                <a:spcPts val="800"/>
              </a:spcBef>
              <a:spcAft>
                <a:spcPts val="300"/>
              </a:spcAft>
            </a:pPr>
            <a:r>
              <a:rPr sz="1500" b="1" i="0">
                <a:solidFill>
                  <a:srgbClr val="CADCFC"/>
                </a:solidFill>
                <a:latin typeface="Calibri"/>
              </a:rPr>
              <a:t>▪  </a:t>
            </a:r>
            <a:r>
              <a:rPr sz="1400" b="0" i="0">
                <a:solidFill>
                  <a:srgbClr val="FFFFFF"/>
                </a:solidFill>
                <a:latin typeface="Calibri"/>
              </a:rPr>
              <a:t>Bôi đậm từ khóa:</a:t>
            </a:r>
          </a:p>
          <a:p>
            <a:pPr>
              <a:spcBef>
                <a:spcPts val="800"/>
              </a:spcBef>
              <a:spcAft>
                <a:spcPts val="300"/>
              </a:spcAft>
            </a:pPr>
            <a:r>
              <a:rPr sz="1500" b="1" i="0">
                <a:solidFill>
                  <a:srgbClr val="CADCFC"/>
                </a:solidFill>
                <a:latin typeface="Calibri"/>
              </a:rPr>
              <a:t>▪  </a:t>
            </a:r>
            <a:r>
              <a:rPr sz="1400" b="0" i="0">
                <a:solidFill>
                  <a:srgbClr val="FFFFFF"/>
                </a:solidFill>
                <a:latin typeface="Calibri"/>
              </a:rPr>
              <a:t>Thuật toán </a:t>
            </a:r>
            <a:r>
              <a:rPr sz="1400" b="1" i="0">
                <a:solidFill>
                  <a:srgbClr val="FFFFFF"/>
                </a:solidFill>
                <a:latin typeface="Calibri"/>
              </a:rPr>
              <a:t>Viterbi</a:t>
            </a:r>
            <a:r>
              <a:rPr sz="1400" b="0" i="0">
                <a:solidFill>
                  <a:srgbClr val="FFFFFF"/>
                </a:solidFill>
                <a:latin typeface="Calibri"/>
              </a:rPr>
              <a:t> là một phương pháp tối ưu hóa động</a:t>
            </a:r>
          </a:p>
          <a:p>
            <a:pPr>
              <a:spcBef>
                <a:spcPts val="800"/>
              </a:spcBef>
              <a:spcAft>
                <a:spcPts val="300"/>
              </a:spcAft>
            </a:pPr>
            <a:r>
              <a:rPr sz="1500" b="1" i="0">
                <a:solidFill>
                  <a:srgbClr val="CADCFC"/>
                </a:solidFill>
                <a:latin typeface="Calibri"/>
              </a:rPr>
              <a:t>▪  </a:t>
            </a:r>
            <a:r>
              <a:rPr sz="1400" b="0" i="0">
                <a:solidFill>
                  <a:srgbClr val="FFFFFF"/>
                </a:solidFill>
                <a:latin typeface="Calibri"/>
              </a:rPr>
              <a:t>Tối ưu độ dài:</a:t>
            </a:r>
          </a:p>
          <a:p>
            <a:pPr>
              <a:spcBef>
                <a:spcPts val="800"/>
              </a:spcBef>
              <a:spcAft>
                <a:spcPts val="300"/>
              </a:spcAft>
            </a:pPr>
            <a:r>
              <a:rPr sz="1500" b="1" i="0">
                <a:solidFill>
                  <a:srgbClr val="CADCFC"/>
                </a:solidFill>
                <a:latin typeface="Calibri"/>
              </a:rPr>
              <a:t>▪  </a:t>
            </a:r>
            <a:r>
              <a:rPr sz="1400" b="0" i="0">
                <a:solidFill>
                  <a:srgbClr val="FFFFFF"/>
                </a:solidFill>
                <a:latin typeface="Calibri"/>
              </a:rPr>
              <a:t>Thuật toán Viterbi giúp xác định trạng thái cuối cùng của hệ thống có khả năng cao nhất dựa trên thông tin về các trạng thái trước đó</a:t>
            </a:r>
          </a:p>
          <a:p>
            <a:pPr>
              <a:spcBef>
                <a:spcPts val="800"/>
              </a:spcBef>
              <a:spcAft>
                <a:spcPts val="300"/>
              </a:spcAft>
            </a:pPr>
            <a:r>
              <a:rPr sz="1500" b="1" i="0">
                <a:solidFill>
                  <a:srgbClr val="CADCFC"/>
                </a:solidFill>
                <a:latin typeface="Calibri"/>
              </a:rPr>
              <a:t>▪  </a:t>
            </a:r>
            <a:r>
              <a:rPr sz="1400" b="0" i="0">
                <a:solidFill>
                  <a:srgbClr val="FFFFFF"/>
                </a:solidFill>
                <a:latin typeface="Calibri"/>
              </a:rPr>
              <a:t>Thuật toán này được phát triển bởi Andrew J. Viterbi vào năm 1967 và ban đầu được áp dụng cho việc mã hóa và truyền dẫn dữ liệu</a:t>
            </a:r>
          </a:p>
          <a:p>
            <a:pPr>
              <a:spcBef>
                <a:spcPts val="800"/>
              </a:spcBef>
              <a:spcAft>
                <a:spcPts val="300"/>
              </a:spcAft>
            </a:pPr>
            <a:r>
              <a:rPr sz="1500" b="1" i="0">
                <a:solidFill>
                  <a:srgbClr val="CADCFC"/>
                </a:solidFill>
                <a:latin typeface="Calibri"/>
              </a:rPr>
              <a:t>▪  </a:t>
            </a:r>
            <a:r>
              <a:rPr sz="1400" b="0" i="0">
                <a:solidFill>
                  <a:srgbClr val="FFFFFF"/>
                </a:solidFill>
                <a:latin typeface="Calibri"/>
              </a:rPr>
              <a:t>Trả về đúng số lượng dòng như ban đầu:</a:t>
            </a:r>
          </a:p>
          <a:p>
            <a:pPr>
              <a:spcBef>
                <a:spcPts val="800"/>
              </a:spcBef>
              <a:spcAft>
                <a:spcPts val="300"/>
              </a:spcAft>
            </a:pPr>
            <a:r>
              <a:rPr sz="1500" b="1" i="0">
                <a:solidFill>
                  <a:srgbClr val="CADCFC"/>
                </a:solidFill>
                <a:latin typeface="Calibri"/>
              </a:rPr>
              <a:t>▪  </a:t>
            </a:r>
            <a:r>
              <a:rPr sz="1400" b="0" i="0">
                <a:solidFill>
                  <a:srgbClr val="FFFFFF"/>
                </a:solidFill>
                <a:latin typeface="Calibri"/>
              </a:rPr>
              <a:t>Thuật toán </a:t>
            </a:r>
            <a:r>
              <a:rPr sz="1400" b="1" i="0">
                <a:solidFill>
                  <a:srgbClr val="FFFFFF"/>
                </a:solidFill>
                <a:latin typeface="Calibri"/>
              </a:rPr>
              <a:t>Viterbi</a:t>
            </a:r>
            <a:r>
              <a:rPr sz="1400" b="0" i="0">
                <a:solidFill>
                  <a:srgbClr val="FFFFFF"/>
                </a:solidFill>
                <a:latin typeface="Calibri"/>
              </a:rPr>
              <a:t> là một phương pháp tối ưu hóa động được sử dụng rộng rãi trong Xử lý ngôn ngữ tự nhiên (NLP), giúp xác định trạng thái cuối cùng của hệ thống có khả năng cao nhất dựa trên thông tin về các trạng thái trước đó</a:t>
            </a:r>
          </a:p>
          <a:p>
            <a:pPr>
              <a:spcBef>
                <a:spcPts val="800"/>
              </a:spcBef>
              <a:spcAft>
                <a:spcPts val="300"/>
              </a:spcAft>
            </a:pPr>
            <a:r>
              <a:rPr sz="1500" b="1" i="0">
                <a:solidFill>
                  <a:srgbClr val="CADCFC"/>
                </a:solidFill>
                <a:latin typeface="Calibri"/>
              </a:rPr>
              <a:t>▪  </a:t>
            </a:r>
            <a:r>
              <a:rPr sz="1400" b="0" i="0">
                <a:solidFill>
                  <a:srgbClr val="FFFFFF"/>
                </a:solidFill>
                <a:latin typeface="Calibri"/>
              </a:rPr>
              <a:t>Thuật toán này được phát triển bởi Andrew J. Viterbi vào năm 1967 và ban đầu được áp dụng cho việc mã hóa và truyền dẫn dữ liệu, nhưng sau đó đã được mở rộng để ứng dụng trong lĩnh vực NLP</a:t>
            </a:r>
          </a:p>
          <a:p>
            <a:pPr>
              <a:spcBef>
                <a:spcPts val="800"/>
              </a:spcBef>
              <a:spcAft>
                <a:spcPts val="300"/>
              </a:spcAft>
            </a:pPr>
            <a:r>
              <a:rPr sz="1500" b="1" i="0">
                <a:solidFill>
                  <a:srgbClr val="CADCFC"/>
                </a:solidFill>
                <a:latin typeface="Calibri"/>
              </a:rPr>
              <a:t>▪  </a:t>
            </a:r>
            <a:r>
              <a:rPr sz="1400" b="0" i="0">
                <a:solidFill>
                  <a:srgbClr val="FFFFFF"/>
                </a:solidFill>
                <a:latin typeface="Calibri"/>
              </a:rPr>
              <a:t>Tính hiệu quả của thuật toán Viterbi nằm ở khả năng tính toán tốc độ cao và tiết kiệm về mặt không gian, nhờ đó nó có thể được sử dụng để xử lý các dữ liệu lớn và phức tạp</a:t>
            </a:r>
          </a:p>
        </p:txBody>
      </p:sp>
      <p:pic>
        <p:nvPicPr>
          <p:cNvPr id="5" name="Picture 4" descr="image.jpg"/>
          <p:cNvPicPr>
            <a:picLocks noChangeAspect="1"/>
          </p:cNvPicPr>
          <p:nvPr/>
        </p:nvPicPr>
        <p:blipFill>
          <a:blip r:embed="rId2"/>
          <a:stretch>
            <a:fillRect/>
          </a:stretch>
        </p:blipFill>
        <p:spPr>
          <a:xfrm>
            <a:off x="5120640" y="1280160"/>
            <a:ext cx="3566160" cy="4754880"/>
          </a:xfrm>
          <a:prstGeom prst="rect">
            <a:avLst/>
          </a:prstGeom>
        </p:spPr>
      </p:pic>
      <p:sp>
        <p:nvSpPr>
          <p:cNvPr id="6" name="TextBox 5"/>
          <p:cNvSpPr txBox="1"/>
          <p:nvPr/>
        </p:nvSpPr>
        <p:spPr>
          <a:xfrm>
            <a:off x="457200" y="6446520"/>
            <a:ext cx="8229600" cy="274320"/>
          </a:xfrm>
          <a:prstGeom prst="rect">
            <a:avLst/>
          </a:prstGeom>
          <a:noFill/>
        </p:spPr>
        <p:txBody>
          <a:bodyPr wrap="square">
            <a:spAutoFit/>
          </a:bodyPr>
          <a:lstStyle/>
          <a:p>
            <a:pPr algn="r"/>
            <a:r>
              <a:rPr sz="800" b="0" i="0">
                <a:solidFill>
                  <a:srgbClr val="CCCCDD"/>
                </a:solidFill>
                <a:latin typeface="Calibri"/>
              </a:rPr>
              <a:t>Viterbi là gì?   |   Trang 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E2761"/>
        </a:solidFill>
        <a:effectLst/>
      </p:bgPr>
    </p:bg>
    <p:spTree>
      <p:nvGrpSpPr>
        <p:cNvPr id="1" name=""/>
        <p:cNvGrpSpPr/>
        <p:nvPr/>
      </p:nvGrpSpPr>
      <p:grpSpPr/>
      <p:sp>
        <p:nvSpPr>
          <p:cNvPr id="2" name="TextBox 1"/>
          <p:cNvSpPr txBox="1"/>
          <p:nvPr/>
        </p:nvSpPr>
        <p:spPr>
          <a:xfrm>
            <a:off x="457200" y="274320"/>
            <a:ext cx="8229600" cy="731520"/>
          </a:xfrm>
          <a:prstGeom prst="rect">
            <a:avLst/>
          </a:prstGeom>
          <a:noFill/>
        </p:spPr>
        <p:txBody>
          <a:bodyPr wrap="square">
            <a:spAutoFit/>
          </a:bodyPr>
          <a:lstStyle/>
          <a:p>
            <a:pPr algn="l"/>
            <a:r>
              <a:rPr sz="2400" b="1" i="0">
                <a:solidFill>
                  <a:srgbClr val="FFFFFF"/>
                </a:solidFill>
                <a:latin typeface="Calibri"/>
              </a:rPr>
              <a:t>Chương trình nghị sự</a:t>
            </a:r>
          </a:p>
        </p:txBody>
      </p:sp>
      <p:sp>
        <p:nvSpPr>
          <p:cNvPr id="3" name="Rectangle 2"/>
          <p:cNvSpPr/>
          <p:nvPr/>
        </p:nvSpPr>
        <p:spPr>
          <a:xfrm>
            <a:off x="457200" y="1051560"/>
            <a:ext cx="8229600" cy="27432"/>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234440"/>
            <a:ext cx="4389120" cy="4937760"/>
          </a:xfrm>
          <a:prstGeom prst="rect">
            <a:avLst/>
          </a:prstGeom>
          <a:noFill/>
        </p:spPr>
        <p:txBody>
          <a:bodyPr wrap="square">
            <a:spAutoFit/>
          </a:bodyPr>
          <a:lstStyle/>
          <a:p>
            <a:pPr>
              <a:spcBef>
                <a:spcPts val="800"/>
              </a:spcBef>
              <a:spcAft>
                <a:spcPts val="300"/>
              </a:spcAft>
            </a:pPr>
            <a:r>
              <a:rPr sz="1500" b="1" i="0">
                <a:solidFill>
                  <a:srgbClr val="CADCFC"/>
                </a:solidFill>
                <a:latin typeface="Calibri"/>
              </a:rPr>
              <a:t>▪  </a:t>
            </a:r>
            <a:r>
              <a:rPr sz="1400" b="1" i="0">
                <a:solidFill>
                  <a:srgbClr val="FFFFFF"/>
                </a:solidFill>
                <a:latin typeface="Calibri"/>
              </a:rPr>
              <a:t>Phân tích cú pháp</a:t>
            </a:r>
            <a:r>
              <a:rPr sz="1400" b="0" i="0">
                <a:solidFill>
                  <a:srgbClr val="FFFFFF"/>
                </a:solidFill>
                <a:latin typeface="Calibri"/>
              </a:rPr>
              <a:t>: Cơ chế phân tích cú pháp là phần quan trọng của Xử lý ngôn ngữ tự nhiên (NLP), giúp máy tính hiểu nghĩa và cấu trúc của câu nói</a:t>
            </a:r>
          </a:p>
          <a:p>
            <a:pPr>
              <a:spcBef>
                <a:spcPts val="800"/>
              </a:spcBef>
              <a:spcAft>
                <a:spcPts val="300"/>
              </a:spcAft>
            </a:pPr>
            <a:r>
              <a:rPr sz="1500" b="1" i="0">
                <a:solidFill>
                  <a:srgbClr val="CADCFC"/>
                </a:solidFill>
                <a:latin typeface="Calibri"/>
              </a:rPr>
              <a:t>▪  </a:t>
            </a:r>
            <a:r>
              <a:rPr sz="1400" b="1" i="0">
                <a:solidFill>
                  <a:srgbClr val="FFFFFF"/>
                </a:solidFill>
                <a:latin typeface="Calibri"/>
              </a:rPr>
              <a:t>Sự khác biệt với thuật toán Forward-Backward</a:t>
            </a:r>
            <a:r>
              <a:rPr sz="1400" b="0" i="0">
                <a:solidFill>
                  <a:srgbClr val="FFFFFF"/>
                </a:solidFill>
                <a:latin typeface="Calibri"/>
              </a:rPr>
              <a:t>: Thuật toán Forward-Backward thường được sử dụng trong học sâu để dự đoán kết quả, nhưng nó không thể phân tích cú pháp như Viterbi</a:t>
            </a:r>
          </a:p>
          <a:p>
            <a:pPr>
              <a:spcBef>
                <a:spcPts val="800"/>
              </a:spcBef>
              <a:spcAft>
                <a:spcPts val="300"/>
              </a:spcAft>
            </a:pPr>
            <a:r>
              <a:rPr sz="1500" b="1" i="0">
                <a:solidFill>
                  <a:srgbClr val="CADCFC"/>
                </a:solidFill>
                <a:latin typeface="Calibri"/>
              </a:rPr>
              <a:t>▪  </a:t>
            </a:r>
            <a:r>
              <a:rPr sz="1400" b="1" i="0">
                <a:solidFill>
                  <a:srgbClr val="FFFFFF"/>
                </a:solidFill>
                <a:latin typeface="Calibri"/>
              </a:rPr>
              <a:t>Ứng dụng thực tế của thuật toán Viterbi</a:t>
            </a:r>
            <a:r>
              <a:rPr sz="1400" b="0" i="0">
                <a:solidFill>
                  <a:srgbClr val="FFFFFF"/>
                </a:solidFill>
                <a:latin typeface="Calibri"/>
              </a:rPr>
              <a:t>: Viterbi có ứng dụng rộng rãi trong các hệ thống nhận dạng giọng nói và dịch tự động, giúp cải thiện hiệu suất và độ chính xác</a:t>
            </a:r>
          </a:p>
          <a:p>
            <a:pPr>
              <a:spcBef>
                <a:spcPts val="800"/>
              </a:spcBef>
              <a:spcAft>
                <a:spcPts val="300"/>
              </a:spcAft>
            </a:pPr>
            <a:r>
              <a:rPr sz="1500" b="1" i="0">
                <a:solidFill>
                  <a:srgbClr val="CADCFC"/>
                </a:solidFill>
                <a:latin typeface="Calibri"/>
              </a:rPr>
              <a:t>▪  </a:t>
            </a:r>
            <a:r>
              <a:rPr sz="1400" b="1" i="0">
                <a:solidFill>
                  <a:srgbClr val="FFFFFF"/>
                </a:solidFill>
                <a:latin typeface="Calibri"/>
              </a:rPr>
              <a:t>Cơ chế vận hành chi tiết</a:t>
            </a:r>
            <a:r>
              <a:rPr sz="1400" b="0" i="0">
                <a:solidFill>
                  <a:srgbClr val="FFFFFF"/>
                </a:solidFill>
                <a:latin typeface="Calibri"/>
              </a:rPr>
              <a:t>: Cơ chế vận hành của Viterbi dựa trên việc sử dụng ma trận chuyển đổi để tính toán khả năng cao nhất của mỗi trạng thái, đảm bảo tối ưu hóa kết quả phân tích cú pháp</a:t>
            </a:r>
          </a:p>
          <a:p>
            <a:pPr>
              <a:spcBef>
                <a:spcPts val="800"/>
              </a:spcBef>
              <a:spcAft>
                <a:spcPts val="300"/>
              </a:spcAft>
            </a:pPr>
            <a:r>
              <a:rPr sz="1500" b="1" i="0">
                <a:solidFill>
                  <a:srgbClr val="CADCFC"/>
                </a:solidFill>
                <a:latin typeface="Calibri"/>
              </a:rPr>
              <a:t>▪  </a:t>
            </a:r>
            <a:r>
              <a:rPr sz="1400" b="0" i="0">
                <a:solidFill>
                  <a:srgbClr val="FFFFFF"/>
                </a:solidFill>
                <a:latin typeface="Calibri"/>
              </a:rPr>
              <a:t>Kiểm tra và lọc bỏ các câu sáo rỗng, chung chung</a:t>
            </a:r>
          </a:p>
          <a:p>
            <a:pPr>
              <a:spcBef>
                <a:spcPts val="800"/>
              </a:spcBef>
              <a:spcAft>
                <a:spcPts val="300"/>
              </a:spcAft>
            </a:pPr>
            <a:r>
              <a:rPr sz="1500" b="1" i="0">
                <a:solidFill>
                  <a:srgbClr val="CADCFC"/>
                </a:solidFill>
                <a:latin typeface="Calibri"/>
              </a:rPr>
              <a:t>▪  </a:t>
            </a:r>
            <a:r>
              <a:rPr sz="1400" b="0" i="0">
                <a:solidFill>
                  <a:srgbClr val="FFFFFF"/>
                </a:solidFill>
                <a:latin typeface="Calibri"/>
              </a:rPr>
              <a:t>Bôi đậm từ khóa quan trọng như "Xử lý ngôn ngữ tự nhiên" (NLP), "phân tích cú pháp", "Viterbi"</a:t>
            </a:r>
          </a:p>
          <a:p>
            <a:pPr>
              <a:spcBef>
                <a:spcPts val="800"/>
              </a:spcBef>
              <a:spcAft>
                <a:spcPts val="300"/>
              </a:spcAft>
            </a:pPr>
            <a:r>
              <a:rPr sz="1500" b="1" i="0">
                <a:solidFill>
                  <a:srgbClr val="CADCFC"/>
                </a:solidFill>
                <a:latin typeface="Calibri"/>
              </a:rPr>
              <a:t>▪  </a:t>
            </a:r>
            <a:r>
              <a:rPr sz="1400" b="0" i="0">
                <a:solidFill>
                  <a:srgbClr val="FFFFFF"/>
                </a:solidFill>
                <a:latin typeface="Calibri"/>
              </a:rPr>
              <a:t>Rút gọn các câu viết quá dài dòng lê thê</a:t>
            </a:r>
          </a:p>
          <a:p>
            <a:pPr>
              <a:spcBef>
                <a:spcPts val="800"/>
              </a:spcBef>
              <a:spcAft>
                <a:spcPts val="300"/>
              </a:spcAft>
            </a:pPr>
            <a:r>
              <a:rPr sz="1500" b="1" i="0">
                <a:solidFill>
                  <a:srgbClr val="CADCFC"/>
                </a:solidFill>
                <a:latin typeface="Calibri"/>
              </a:rPr>
              <a:t>▪  </a:t>
            </a:r>
            <a:r>
              <a:rPr sz="1400" b="0" i="0">
                <a:solidFill>
                  <a:srgbClr val="FFFFFF"/>
                </a:solidFill>
                <a:latin typeface="Calibri"/>
              </a:rPr>
              <a:t>Trả về đúng số lượng dòng như ban đầu, mỗi dòng bắt đầu bằng '- ' và chứa nội dung đã tối ưu nâng cao</a:t>
            </a:r>
          </a:p>
        </p:txBody>
      </p:sp>
      <p:pic>
        <p:nvPicPr>
          <p:cNvPr id="5" name="Picture 4" descr="image.jpg"/>
          <p:cNvPicPr>
            <a:picLocks noChangeAspect="1"/>
          </p:cNvPicPr>
          <p:nvPr/>
        </p:nvPicPr>
        <p:blipFill>
          <a:blip r:embed="rId2"/>
          <a:stretch>
            <a:fillRect/>
          </a:stretch>
        </p:blipFill>
        <p:spPr>
          <a:xfrm>
            <a:off x="5120640" y="1280160"/>
            <a:ext cx="3566160" cy="4754880"/>
          </a:xfrm>
          <a:prstGeom prst="rect">
            <a:avLst/>
          </a:prstGeom>
        </p:spPr>
      </p:pic>
      <p:sp>
        <p:nvSpPr>
          <p:cNvPr id="6" name="TextBox 5"/>
          <p:cNvSpPr txBox="1"/>
          <p:nvPr/>
        </p:nvSpPr>
        <p:spPr>
          <a:xfrm>
            <a:off x="457200" y="6446520"/>
            <a:ext cx="8229600" cy="274320"/>
          </a:xfrm>
          <a:prstGeom prst="rect">
            <a:avLst/>
          </a:prstGeom>
          <a:noFill/>
        </p:spPr>
        <p:txBody>
          <a:bodyPr wrap="square">
            <a:spAutoFit/>
          </a:bodyPr>
          <a:lstStyle/>
          <a:p>
            <a:pPr algn="r"/>
            <a:r>
              <a:rPr sz="800" b="0" i="0">
                <a:solidFill>
                  <a:srgbClr val="CCCCDD"/>
                </a:solidFill>
                <a:latin typeface="Calibri"/>
              </a:rPr>
              <a:t>Viterbi là gì?   |   Trang 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E2761"/>
        </a:solidFill>
        <a:effectLst/>
      </p:bgPr>
    </p:bg>
    <p:spTree>
      <p:nvGrpSpPr>
        <p:cNvPr id="1" name=""/>
        <p:cNvGrpSpPr/>
        <p:nvPr/>
      </p:nvGrpSpPr>
      <p:grpSpPr/>
      <p:sp>
        <p:nvSpPr>
          <p:cNvPr id="2" name="TextBox 1"/>
          <p:cNvSpPr txBox="1"/>
          <p:nvPr/>
        </p:nvSpPr>
        <p:spPr>
          <a:xfrm>
            <a:off x="457200" y="274320"/>
            <a:ext cx="8229600" cy="731520"/>
          </a:xfrm>
          <a:prstGeom prst="rect">
            <a:avLst/>
          </a:prstGeom>
          <a:noFill/>
        </p:spPr>
        <p:txBody>
          <a:bodyPr wrap="square">
            <a:spAutoFit/>
          </a:bodyPr>
          <a:lstStyle/>
          <a:p>
            <a:pPr algn="l"/>
            <a:r>
              <a:rPr sz="2400" b="1" i="0">
                <a:solidFill>
                  <a:srgbClr val="FFFFFF"/>
                </a:solidFill>
                <a:latin typeface="Calibri"/>
              </a:rPr>
              <a:t>**cơ chế phân tích cú pháp</a:t>
            </a:r>
          </a:p>
        </p:txBody>
      </p:sp>
      <p:sp>
        <p:nvSpPr>
          <p:cNvPr id="3" name="Rectangle 2"/>
          <p:cNvSpPr/>
          <p:nvPr/>
        </p:nvSpPr>
        <p:spPr>
          <a:xfrm>
            <a:off x="457200" y="1051560"/>
            <a:ext cx="8229600" cy="27432"/>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234440"/>
            <a:ext cx="4389120" cy="4937760"/>
          </a:xfrm>
          <a:prstGeom prst="rect">
            <a:avLst/>
          </a:prstGeom>
          <a:noFill/>
        </p:spPr>
        <p:txBody>
          <a:bodyPr wrap="square">
            <a:spAutoFit/>
          </a:bodyPr>
          <a:lstStyle/>
          <a:p>
            <a:pPr>
              <a:spcBef>
                <a:spcPts val="800"/>
              </a:spcBef>
              <a:spcAft>
                <a:spcPts val="300"/>
              </a:spcAft>
            </a:pPr>
            <a:r>
              <a:rPr sz="1500" b="1" i="0">
                <a:solidFill>
                  <a:srgbClr val="CADCFC"/>
                </a:solidFill>
                <a:latin typeface="Calibri"/>
              </a:rPr>
              <a:t>▪  </a:t>
            </a:r>
            <a:r>
              <a:rPr sz="1400" b="1" i="0">
                <a:solidFill>
                  <a:srgbClr val="FFFFFF"/>
                </a:solidFill>
                <a:latin typeface="Calibri"/>
              </a:rPr>
              <a:t>Cơ chế phân tích cú pháp</a:t>
            </a:r>
          </a:p>
          <a:p>
            <a:pPr>
              <a:spcBef>
                <a:spcPts val="800"/>
              </a:spcBef>
              <a:spcAft>
                <a:spcPts val="300"/>
              </a:spcAft>
            </a:pPr>
            <a:r>
              <a:rPr sz="1500" b="1" i="0">
                <a:solidFill>
                  <a:srgbClr val="CADCFC"/>
                </a:solidFill>
                <a:latin typeface="Calibri"/>
              </a:rPr>
              <a:t>▪  </a:t>
            </a:r>
            <a:r>
              <a:rPr sz="1400" b="0" i="0">
                <a:solidFill>
                  <a:srgbClr val="FFFFFF"/>
                </a:solidFill>
                <a:latin typeface="Calibri"/>
              </a:rPr>
              <a:t>Cơ chế phân tích cú pháp của thuật toán Viterbi dựa trên việc sử dụng bảng trạng thái để theo dõi quá trình xác định trạng thái hiện tại của hệ thống, đồng thời ước lượng tính khả dụng của các trạng thái khác thông qua mô hình Markov ẩn</a:t>
            </a:r>
          </a:p>
          <a:p>
            <a:pPr>
              <a:spcBef>
                <a:spcPts val="800"/>
              </a:spcBef>
              <a:spcAft>
                <a:spcPts val="300"/>
              </a:spcAft>
            </a:pPr>
            <a:r>
              <a:rPr sz="1500" b="1" i="0">
                <a:solidFill>
                  <a:srgbClr val="CADCFC"/>
                </a:solidFill>
                <a:latin typeface="Calibri"/>
              </a:rPr>
              <a:t>▪  </a:t>
            </a:r>
            <a:r>
              <a:rPr sz="1400" b="0" i="0">
                <a:solidFill>
                  <a:srgbClr val="FFFFFF"/>
                </a:solidFill>
                <a:latin typeface="Calibri"/>
              </a:rPr>
              <a:t>Bảng trạng thái này được xây dựng dựa trên phân phối khả năng và sử dụng thuật toán Viterbi để tìm kiếm trạng thái cuối cùng có giá trị cao nhất trong phân phối khả năng</a:t>
            </a:r>
          </a:p>
          <a:p>
            <a:pPr>
              <a:spcBef>
                <a:spcPts val="800"/>
              </a:spcBef>
              <a:spcAft>
                <a:spcPts val="300"/>
              </a:spcAft>
            </a:pPr>
            <a:r>
              <a:rPr sz="1500" b="1" i="0">
                <a:solidFill>
                  <a:srgbClr val="CADCFC"/>
                </a:solidFill>
                <a:latin typeface="Calibri"/>
              </a:rPr>
              <a:t>▪  </a:t>
            </a:r>
            <a:r>
              <a:rPr sz="1400" b="0" i="0">
                <a:solidFill>
                  <a:srgbClr val="FFFFFF"/>
                </a:solidFill>
                <a:latin typeface="Calibri"/>
              </a:rPr>
              <a:t>Quá trình này cho phép thuật toán Viterbi hiệu quả trong việc ước lượng tính khả dụng của các trạng thái khác và xác định trạng thái hiện tại của hệ thống thông qua các mô hình ngôn ngữ phức tạp</a:t>
            </a:r>
          </a:p>
        </p:txBody>
      </p:sp>
      <p:pic>
        <p:nvPicPr>
          <p:cNvPr id="5" name="Picture 4" descr="image.jpg"/>
          <p:cNvPicPr>
            <a:picLocks noChangeAspect="1"/>
          </p:cNvPicPr>
          <p:nvPr/>
        </p:nvPicPr>
        <p:blipFill>
          <a:blip r:embed="rId2"/>
          <a:stretch>
            <a:fillRect/>
          </a:stretch>
        </p:blipFill>
        <p:spPr>
          <a:xfrm>
            <a:off x="5120640" y="1280160"/>
            <a:ext cx="3566160" cy="4754880"/>
          </a:xfrm>
          <a:prstGeom prst="rect">
            <a:avLst/>
          </a:prstGeom>
        </p:spPr>
      </p:pic>
      <p:sp>
        <p:nvSpPr>
          <p:cNvPr id="6" name="TextBox 5"/>
          <p:cNvSpPr txBox="1"/>
          <p:nvPr/>
        </p:nvSpPr>
        <p:spPr>
          <a:xfrm>
            <a:off x="457200" y="6446520"/>
            <a:ext cx="8229600" cy="274320"/>
          </a:xfrm>
          <a:prstGeom prst="rect">
            <a:avLst/>
          </a:prstGeom>
          <a:noFill/>
        </p:spPr>
        <p:txBody>
          <a:bodyPr wrap="square">
            <a:spAutoFit/>
          </a:bodyPr>
          <a:lstStyle/>
          <a:p>
            <a:pPr algn="r"/>
            <a:r>
              <a:rPr sz="800" b="0" i="0">
                <a:solidFill>
                  <a:srgbClr val="CCCCDD"/>
                </a:solidFill>
                <a:latin typeface="Calibri"/>
              </a:rPr>
              <a:t>Viterbi là gì?   |   Trang 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E2761"/>
        </a:solidFill>
        <a:effectLst/>
      </p:bgPr>
    </p:bg>
    <p:spTree>
      <p:nvGrpSpPr>
        <p:cNvPr id="1" name=""/>
        <p:cNvGrpSpPr/>
        <p:nvPr/>
      </p:nvGrpSpPr>
      <p:grpSpPr/>
      <p:sp>
        <p:nvSpPr>
          <p:cNvPr id="2" name="TextBox 1"/>
          <p:cNvSpPr txBox="1"/>
          <p:nvPr/>
        </p:nvSpPr>
        <p:spPr>
          <a:xfrm>
            <a:off x="457200" y="274320"/>
            <a:ext cx="8229600" cy="731520"/>
          </a:xfrm>
          <a:prstGeom prst="rect">
            <a:avLst/>
          </a:prstGeom>
          <a:noFill/>
        </p:spPr>
        <p:txBody>
          <a:bodyPr wrap="square">
            <a:spAutoFit/>
          </a:bodyPr>
          <a:lstStyle/>
          <a:p>
            <a:pPr algn="l"/>
            <a:r>
              <a:rPr sz="2400" b="1" i="0">
                <a:solidFill>
                  <a:srgbClr val="FFFFFF"/>
                </a:solidFill>
                <a:latin typeface="Calibri"/>
              </a:rPr>
              <a:t>**sự khác biệt với thuật toán Forward-Backward</a:t>
            </a:r>
          </a:p>
        </p:txBody>
      </p:sp>
      <p:sp>
        <p:nvSpPr>
          <p:cNvPr id="3" name="Rectangle 2"/>
          <p:cNvSpPr/>
          <p:nvPr/>
        </p:nvSpPr>
        <p:spPr>
          <a:xfrm>
            <a:off x="457200" y="1051560"/>
            <a:ext cx="8229600" cy="27432"/>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234440"/>
            <a:ext cx="4389120" cy="4937760"/>
          </a:xfrm>
          <a:prstGeom prst="rect">
            <a:avLst/>
          </a:prstGeom>
          <a:noFill/>
        </p:spPr>
        <p:txBody>
          <a:bodyPr wrap="square">
            <a:spAutoFit/>
          </a:bodyPr>
          <a:lstStyle/>
          <a:p>
            <a:pPr>
              <a:spcBef>
                <a:spcPts val="800"/>
              </a:spcBef>
              <a:spcAft>
                <a:spcPts val="300"/>
              </a:spcAft>
            </a:pPr>
            <a:r>
              <a:rPr sz="1500" b="1" i="0">
                <a:solidFill>
                  <a:srgbClr val="CADCFC"/>
                </a:solidFill>
                <a:latin typeface="Calibri"/>
              </a:rPr>
              <a:t>▪  </a:t>
            </a:r>
            <a:r>
              <a:rPr sz="1400" b="0" i="1">
                <a:solidFill>
                  <a:srgbClr val="FFFFFF"/>
                </a:solidFill>
                <a:latin typeface="Calibri"/>
              </a:rPr>
              <a:t>Sự khác biệt với thuật toán Forward-Backward</a:t>
            </a:r>
          </a:p>
          <a:p>
            <a:pPr>
              <a:spcBef>
                <a:spcPts val="800"/>
              </a:spcBef>
              <a:spcAft>
                <a:spcPts val="300"/>
              </a:spcAft>
            </a:pPr>
            <a:r>
              <a:rPr sz="1500" b="1" i="0">
                <a:solidFill>
                  <a:srgbClr val="CADCFC"/>
                </a:solidFill>
                <a:latin typeface="Calibri"/>
              </a:rPr>
              <a:t>▪  </a:t>
            </a:r>
            <a:r>
              <a:rPr sz="1400" b="1" i="0">
                <a:solidFill>
                  <a:srgbClr val="FFFFFF"/>
                </a:solidFill>
                <a:latin typeface="Calibri"/>
              </a:rPr>
              <a:t>Định nghĩa chính xác</a:t>
            </a:r>
            <a:r>
              <a:rPr sz="1400" b="0" i="0">
                <a:solidFill>
                  <a:srgbClr val="FFFFFF"/>
                </a:solidFill>
                <a:latin typeface="Calibri"/>
              </a:rPr>
              <a:t>: Thuật toán Viterbi là một phương pháp tối ưu hóa để tìm trạng thái cao nhất có khả năng trong mô hình Markov ẩn, được ứng dụng rộng rãi trong Xử lý ngôn ngữ tự nhiên (NLP)</a:t>
            </a:r>
          </a:p>
          <a:p>
            <a:pPr>
              <a:spcBef>
                <a:spcPts val="800"/>
              </a:spcBef>
              <a:spcAft>
                <a:spcPts val="300"/>
              </a:spcAft>
            </a:pPr>
            <a:r>
              <a:rPr sz="1500" b="1" i="0">
                <a:solidFill>
                  <a:srgbClr val="CADCFC"/>
                </a:solidFill>
                <a:latin typeface="Calibri"/>
              </a:rPr>
              <a:t>▪  </a:t>
            </a:r>
            <a:r>
              <a:rPr sz="1400" b="1" i="0">
                <a:solidFill>
                  <a:srgbClr val="FFFFFF"/>
                </a:solidFill>
                <a:latin typeface="Calibri"/>
              </a:rPr>
              <a:t>Cơ chế vận hành khác biệt</a:t>
            </a:r>
            <a:r>
              <a:rPr sz="1400" b="0" i="0">
                <a:solidFill>
                  <a:srgbClr val="FFFFFF"/>
                </a:solidFill>
                <a:latin typeface="Calibri"/>
              </a:rPr>
              <a:t>: Viterbi sử dụng thuật toán treo đè (hanging) để truyền thông tin về trạng thái hiện tại từ bước trước sang bước sau, khác với Forward-Backward sử dụng các hàm mật độ khả năng (probability density functions) để tính toán xác suất của các trạng thái</a:t>
            </a:r>
          </a:p>
          <a:p>
            <a:pPr>
              <a:spcBef>
                <a:spcPts val="800"/>
              </a:spcBef>
              <a:spcAft>
                <a:spcPts val="300"/>
              </a:spcAft>
            </a:pPr>
            <a:r>
              <a:rPr sz="1500" b="1" i="0">
                <a:solidFill>
                  <a:srgbClr val="CADCFC"/>
                </a:solidFill>
                <a:latin typeface="Calibri"/>
              </a:rPr>
              <a:t>▪  </a:t>
            </a:r>
            <a:r>
              <a:rPr sz="1400" b="1" i="0">
                <a:solidFill>
                  <a:srgbClr val="FFFFFF"/>
                </a:solidFill>
                <a:latin typeface="Calibri"/>
              </a:rPr>
              <a:t>Tính hiệu suất khác biệt</a:t>
            </a:r>
            <a:r>
              <a:rPr sz="1400" b="0" i="0">
                <a:solidFill>
                  <a:srgbClr val="FFFFFF"/>
                </a:solidFill>
                <a:latin typeface="Calibri"/>
              </a:rPr>
              <a:t>: Viterbi thường hiệu quả hơn khi dữ liệu có đặc tính Markov phi tuyến hoặc có sự phụ thuộc giữa các trạng thái, trong khi Forward-Backward phù hợp với các mô hình tuyến tính và không có sự phụ thuộc giữa các trạng thái</a:t>
            </a:r>
          </a:p>
        </p:txBody>
      </p:sp>
      <p:pic>
        <p:nvPicPr>
          <p:cNvPr id="5" name="Picture 4" descr="image.jpg"/>
          <p:cNvPicPr>
            <a:picLocks noChangeAspect="1"/>
          </p:cNvPicPr>
          <p:nvPr/>
        </p:nvPicPr>
        <p:blipFill>
          <a:blip r:embed="rId2"/>
          <a:stretch>
            <a:fillRect/>
          </a:stretch>
        </p:blipFill>
        <p:spPr>
          <a:xfrm>
            <a:off x="5120640" y="1280160"/>
            <a:ext cx="3566160" cy="4754880"/>
          </a:xfrm>
          <a:prstGeom prst="rect">
            <a:avLst/>
          </a:prstGeom>
        </p:spPr>
      </p:pic>
      <p:sp>
        <p:nvSpPr>
          <p:cNvPr id="6" name="TextBox 5"/>
          <p:cNvSpPr txBox="1"/>
          <p:nvPr/>
        </p:nvSpPr>
        <p:spPr>
          <a:xfrm>
            <a:off x="457200" y="6446520"/>
            <a:ext cx="8229600" cy="274320"/>
          </a:xfrm>
          <a:prstGeom prst="rect">
            <a:avLst/>
          </a:prstGeom>
          <a:noFill/>
        </p:spPr>
        <p:txBody>
          <a:bodyPr wrap="square">
            <a:spAutoFit/>
          </a:bodyPr>
          <a:lstStyle/>
          <a:p>
            <a:pPr algn="r"/>
            <a:r>
              <a:rPr sz="800" b="0" i="0">
                <a:solidFill>
                  <a:srgbClr val="CCCCDD"/>
                </a:solidFill>
                <a:latin typeface="Calibri"/>
              </a:rPr>
              <a:t>Viterbi là gì?   |   Trang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E2761"/>
        </a:solidFill>
        <a:effectLst/>
      </p:bgPr>
    </p:bg>
    <p:spTree>
      <p:nvGrpSpPr>
        <p:cNvPr id="1" name=""/>
        <p:cNvGrpSpPr/>
        <p:nvPr/>
      </p:nvGrpSpPr>
      <p:grpSpPr/>
      <p:sp>
        <p:nvSpPr>
          <p:cNvPr id="2" name="TextBox 1"/>
          <p:cNvSpPr txBox="1"/>
          <p:nvPr/>
        </p:nvSpPr>
        <p:spPr>
          <a:xfrm>
            <a:off x="457200" y="274320"/>
            <a:ext cx="8229600" cy="731520"/>
          </a:xfrm>
          <a:prstGeom prst="rect">
            <a:avLst/>
          </a:prstGeom>
          <a:noFill/>
        </p:spPr>
        <p:txBody>
          <a:bodyPr wrap="square">
            <a:spAutoFit/>
          </a:bodyPr>
          <a:lstStyle/>
          <a:p>
            <a:pPr algn="l"/>
            <a:r>
              <a:rPr sz="2400" b="1" i="0">
                <a:solidFill>
                  <a:srgbClr val="FFFFFF"/>
                </a:solidFill>
                <a:latin typeface="Calibri"/>
              </a:rPr>
              <a:t>**ứng dụng thực tế của thuật toán Viterbi</a:t>
            </a:r>
          </a:p>
        </p:txBody>
      </p:sp>
      <p:sp>
        <p:nvSpPr>
          <p:cNvPr id="3" name="Rectangle 2"/>
          <p:cNvSpPr/>
          <p:nvPr/>
        </p:nvSpPr>
        <p:spPr>
          <a:xfrm>
            <a:off x="457200" y="1051560"/>
            <a:ext cx="8229600" cy="27432"/>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234440"/>
            <a:ext cx="4389120" cy="4937760"/>
          </a:xfrm>
          <a:prstGeom prst="rect">
            <a:avLst/>
          </a:prstGeom>
          <a:noFill/>
        </p:spPr>
        <p:txBody>
          <a:bodyPr wrap="square">
            <a:spAutoFit/>
          </a:bodyPr>
          <a:lstStyle/>
          <a:p>
            <a:pPr>
              <a:spcBef>
                <a:spcPts val="800"/>
              </a:spcBef>
              <a:spcAft>
                <a:spcPts val="300"/>
              </a:spcAft>
            </a:pPr>
            <a:r>
              <a:rPr sz="1500" b="1" i="0">
                <a:solidFill>
                  <a:srgbClr val="CADCFC"/>
                </a:solidFill>
                <a:latin typeface="Calibri"/>
              </a:rPr>
              <a:t>▪  </a:t>
            </a:r>
            <a:r>
              <a:rPr sz="1400" b="0" i="1">
                <a:solidFill>
                  <a:srgbClr val="FFFFFF"/>
                </a:solidFill>
                <a:latin typeface="Calibri"/>
              </a:rPr>
              <a:t>Slide 3: "Ứng dụng thực tế của thuật toán Viterbi"</a:t>
            </a:r>
          </a:p>
          <a:p>
            <a:pPr>
              <a:spcBef>
                <a:spcPts val="800"/>
              </a:spcBef>
              <a:spcAft>
                <a:spcPts val="300"/>
              </a:spcAft>
            </a:pPr>
            <a:r>
              <a:rPr sz="1500" b="1" i="0">
                <a:solidFill>
                  <a:srgbClr val="CADCFC"/>
                </a:solidFill>
                <a:latin typeface="Calibri"/>
              </a:rPr>
              <a:t>▪  </a:t>
            </a:r>
            <a:r>
              <a:rPr sz="1400" b="1" i="0">
                <a:solidFill>
                  <a:srgbClr val="FFFFFF"/>
                </a:solidFill>
                <a:latin typeface="Calibri"/>
              </a:rPr>
              <a:t>Ví dụ ứng dụng nổi bật:</a:t>
            </a:r>
            <a:r>
              <a:rPr sz="1400" b="0" i="0">
                <a:solidFill>
                  <a:srgbClr val="FFFFFF"/>
                </a:solidFill>
                <a:latin typeface="Calibri"/>
              </a:rPr>
              <a:t> Thuật toán Viterbi được sử dụng rộng rãi trong Xử lý ngôn ngữ tự nhiên (NLP) cho các nhiệm vụ như </a:t>
            </a:r>
            <a:r>
              <a:rPr sz="1400" b="1" i="0">
                <a:solidFill>
                  <a:srgbClr val="FFFFFF"/>
                </a:solidFill>
                <a:latin typeface="Calibri"/>
              </a:rPr>
              <a:t>Ghi nhận và phân tích hội thoại</a:t>
            </a:r>
            <a:r>
              <a:rPr sz="1400" b="0" i="0">
                <a:solidFill>
                  <a:srgbClr val="FFFFFF"/>
                </a:solidFill>
                <a:latin typeface="Calibri"/>
              </a:rPr>
              <a:t> trong môi trường di động hoặc không dây, chẳng hạn như hệ thống trợ lý ảo</a:t>
            </a:r>
          </a:p>
          <a:p>
            <a:pPr>
              <a:spcBef>
                <a:spcPts val="800"/>
              </a:spcBef>
              <a:spcAft>
                <a:spcPts val="300"/>
              </a:spcAft>
            </a:pPr>
            <a:r>
              <a:rPr sz="1500" b="1" i="0">
                <a:solidFill>
                  <a:srgbClr val="CADCFC"/>
                </a:solidFill>
                <a:latin typeface="Calibri"/>
              </a:rPr>
              <a:t>▪  </a:t>
            </a:r>
            <a:r>
              <a:rPr sz="1400" b="1" i="0">
                <a:solidFill>
                  <a:srgbClr val="FFFFFF"/>
                </a:solidFill>
                <a:latin typeface="Calibri"/>
              </a:rPr>
              <a:t>Ứng dụng trong kỹ thuật mã hóa</a:t>
            </a:r>
            <a:r>
              <a:rPr sz="1400" b="0" i="0">
                <a:solidFill>
                  <a:srgbClr val="FFFFFF"/>
                </a:solidFill>
                <a:latin typeface="Calibri"/>
              </a:rPr>
              <a:t>: Viterbi cũng đóng vai trò quan trọng trong kỹ thuật mã hóa dữ liệu, giúp tối ưu quá trình truyền tải thông tin bằng cách giảm thiểu sai số và tăng cường độ chính xác của tín hiệu qua </a:t>
            </a:r>
            <a:r>
              <a:rPr sz="1400" b="1" i="0">
                <a:solidFill>
                  <a:srgbClr val="FFFFFF"/>
                </a:solidFill>
                <a:latin typeface="Calibri"/>
              </a:rPr>
              <a:t>mạng không dây</a:t>
            </a:r>
          </a:p>
          <a:p>
            <a:pPr>
              <a:spcBef>
                <a:spcPts val="800"/>
              </a:spcBef>
              <a:spcAft>
                <a:spcPts val="300"/>
              </a:spcAft>
            </a:pPr>
            <a:r>
              <a:rPr sz="1500" b="1" i="0">
                <a:solidFill>
                  <a:srgbClr val="CADCFC"/>
                </a:solidFill>
                <a:latin typeface="Calibri"/>
              </a:rPr>
              <a:t>▪  </a:t>
            </a:r>
            <a:r>
              <a:rPr sz="1400" b="1" i="0">
                <a:solidFill>
                  <a:srgbClr val="FFFFFF"/>
                </a:solidFill>
                <a:latin typeface="Calibri"/>
              </a:rPr>
              <a:t>Phân tích ngôn ngữ tự nhiên</a:t>
            </a:r>
            <a:r>
              <a:rPr sz="1400" b="0" i="0">
                <a:solidFill>
                  <a:srgbClr val="FFFFFF"/>
                </a:solidFill>
                <a:latin typeface="Calibri"/>
              </a:rPr>
              <a:t>: Thuật toán này còn được sử dụng để phân tích và hiểu các mẫu ngôn ngữ phức tạp trong NLP, chẳng hạn như việc nhận diện cảm xúc hoặc cảm hứng qua từ ngữ bằng cách </a:t>
            </a:r>
            <a:r>
              <a:rPr sz="1400" b="1" i="0">
                <a:solidFill>
                  <a:srgbClr val="FFFFFF"/>
                </a:solidFill>
                <a:latin typeface="Calibri"/>
              </a:rPr>
              <a:t>tích hợp mô hình ngôn ngữ</a:t>
            </a:r>
          </a:p>
        </p:txBody>
      </p:sp>
      <p:pic>
        <p:nvPicPr>
          <p:cNvPr id="5" name="Picture 4" descr="image.jpg"/>
          <p:cNvPicPr>
            <a:picLocks noChangeAspect="1"/>
          </p:cNvPicPr>
          <p:nvPr/>
        </p:nvPicPr>
        <p:blipFill>
          <a:blip r:embed="rId2"/>
          <a:stretch>
            <a:fillRect/>
          </a:stretch>
        </p:blipFill>
        <p:spPr>
          <a:xfrm>
            <a:off x="5120640" y="1280160"/>
            <a:ext cx="3566160" cy="4754880"/>
          </a:xfrm>
          <a:prstGeom prst="rect">
            <a:avLst/>
          </a:prstGeom>
        </p:spPr>
      </p:pic>
      <p:sp>
        <p:nvSpPr>
          <p:cNvPr id="6" name="TextBox 5"/>
          <p:cNvSpPr txBox="1"/>
          <p:nvPr/>
        </p:nvSpPr>
        <p:spPr>
          <a:xfrm>
            <a:off x="457200" y="6446520"/>
            <a:ext cx="8229600" cy="274320"/>
          </a:xfrm>
          <a:prstGeom prst="rect">
            <a:avLst/>
          </a:prstGeom>
          <a:noFill/>
        </p:spPr>
        <p:txBody>
          <a:bodyPr wrap="square">
            <a:spAutoFit/>
          </a:bodyPr>
          <a:lstStyle/>
          <a:p>
            <a:pPr algn="r"/>
            <a:r>
              <a:rPr sz="800" b="0" i="0">
                <a:solidFill>
                  <a:srgbClr val="CCCCDD"/>
                </a:solidFill>
                <a:latin typeface="Calibri"/>
              </a:rPr>
              <a:t>Viterbi là gì?   |   Trang 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E2761"/>
        </a:solidFill>
        <a:effectLst/>
      </p:bgPr>
    </p:bg>
    <p:spTree>
      <p:nvGrpSpPr>
        <p:cNvPr id="1" name=""/>
        <p:cNvGrpSpPr/>
        <p:nvPr/>
      </p:nvGrpSpPr>
      <p:grpSpPr/>
      <p:sp>
        <p:nvSpPr>
          <p:cNvPr id="2" name="TextBox 1"/>
          <p:cNvSpPr txBox="1"/>
          <p:nvPr/>
        </p:nvSpPr>
        <p:spPr>
          <a:xfrm>
            <a:off x="457200" y="274320"/>
            <a:ext cx="8229600" cy="731520"/>
          </a:xfrm>
          <a:prstGeom prst="rect">
            <a:avLst/>
          </a:prstGeom>
          <a:noFill/>
        </p:spPr>
        <p:txBody>
          <a:bodyPr wrap="square">
            <a:spAutoFit/>
          </a:bodyPr>
          <a:lstStyle/>
          <a:p>
            <a:pPr algn="l"/>
            <a:r>
              <a:rPr sz="2400" b="1" i="0">
                <a:solidFill>
                  <a:srgbClr val="FFFFFF"/>
                </a:solidFill>
                <a:latin typeface="Calibri"/>
              </a:rPr>
              <a:t>**cơ chế vận hành chi tiết</a:t>
            </a:r>
          </a:p>
        </p:txBody>
      </p:sp>
      <p:sp>
        <p:nvSpPr>
          <p:cNvPr id="3" name="Rectangle 2"/>
          <p:cNvSpPr/>
          <p:nvPr/>
        </p:nvSpPr>
        <p:spPr>
          <a:xfrm>
            <a:off x="457200" y="1051560"/>
            <a:ext cx="8229600" cy="27432"/>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234440"/>
            <a:ext cx="4389120" cy="4937760"/>
          </a:xfrm>
          <a:prstGeom prst="rect">
            <a:avLst/>
          </a:prstGeom>
          <a:noFill/>
        </p:spPr>
        <p:txBody>
          <a:bodyPr wrap="square">
            <a:spAutoFit/>
          </a:bodyPr>
          <a:lstStyle/>
          <a:p>
            <a:pPr>
              <a:spcBef>
                <a:spcPts val="800"/>
              </a:spcBef>
              <a:spcAft>
                <a:spcPts val="300"/>
              </a:spcAft>
            </a:pPr>
            <a:r>
              <a:rPr sz="1500" b="1" i="0">
                <a:solidFill>
                  <a:srgbClr val="CADCFC"/>
                </a:solidFill>
                <a:latin typeface="Calibri"/>
              </a:rPr>
              <a:t>▪  </a:t>
            </a:r>
            <a:r>
              <a:rPr sz="1400" b="0" i="0">
                <a:solidFill>
                  <a:srgbClr val="FFFFFF"/>
                </a:solidFill>
                <a:latin typeface="Calibri"/>
              </a:rPr>
              <a:t>Cơ chế vận hành của thuật toán Viterbi dựa trên nguyên tắc tối ưu hóa phân tích chuỗi trạng thái có liên quan đến trạng thái ban đầu và trạng thái cuối cùng bằng cách sử dụng phân tích động lực học Hidden Markov Model (HMM) để mô hình hóa quá trình chuyển đổi giữa các trạng thái trong một chuỗi ngôn ngữ</a:t>
            </a:r>
          </a:p>
          <a:p>
            <a:pPr>
              <a:spcBef>
                <a:spcPts val="800"/>
              </a:spcBef>
              <a:spcAft>
                <a:spcPts val="300"/>
              </a:spcAft>
            </a:pPr>
            <a:r>
              <a:rPr sz="1500" b="1" i="0">
                <a:solidFill>
                  <a:srgbClr val="CADCFC"/>
                </a:solidFill>
                <a:latin typeface="Calibri"/>
              </a:rPr>
              <a:t>▪  </a:t>
            </a:r>
            <a:r>
              <a:rPr sz="1400" b="0" i="0">
                <a:solidFill>
                  <a:srgbClr val="FFFFFF"/>
                </a:solidFill>
                <a:latin typeface="Calibri"/>
              </a:rPr>
              <a:t>Mô hình Viterbi sử dụng cây quyết định với </a:t>
            </a:r>
            <a:r>
              <a:rPr sz="1400" b="1" i="0">
                <a:solidFill>
                  <a:srgbClr val="FFFFFF"/>
                </a:solidFill>
                <a:latin typeface="Calibri"/>
              </a:rPr>
              <a:t>trạng thái tối ưu</a:t>
            </a:r>
            <a:r>
              <a:rPr sz="1400" b="0" i="0">
                <a:solidFill>
                  <a:srgbClr val="FFFFFF"/>
                </a:solidFill>
                <a:latin typeface="Calibri"/>
              </a:rPr>
              <a:t> làm gốc, biểu diễn khả năng tối đa cho mỗi trạng thái cụ thể bằng cách tính toán giá trị tối ưu của từng nhánh</a:t>
            </a:r>
          </a:p>
          <a:p>
            <a:pPr>
              <a:spcBef>
                <a:spcPts val="800"/>
              </a:spcBef>
              <a:spcAft>
                <a:spcPts val="300"/>
              </a:spcAft>
            </a:pPr>
            <a:r>
              <a:rPr sz="1500" b="1" i="0">
                <a:solidFill>
                  <a:srgbClr val="CADCFC"/>
                </a:solidFill>
                <a:latin typeface="Calibri"/>
              </a:rPr>
              <a:t>▪  </a:t>
            </a:r>
            <a:r>
              <a:rPr sz="1400" b="0" i="0">
                <a:solidFill>
                  <a:srgbClr val="FFFFFF"/>
                </a:solidFill>
                <a:latin typeface="Calibri"/>
              </a:rPr>
              <a:t>Quá trình vận hành của thuật toán Viterbi bao gồm xây dựng cây quyết định với các trạng thái ban đầu và cuối cùng được xác định rõ ràng, sau đó tính toán </a:t>
            </a:r>
            <a:r>
              <a:rPr sz="1400" b="1" i="0">
                <a:solidFill>
                  <a:srgbClr val="FFFFFF"/>
                </a:solidFill>
                <a:latin typeface="Calibri"/>
              </a:rPr>
              <a:t>giá trị Viterbi</a:t>
            </a:r>
            <a:r>
              <a:rPr sz="1400" b="0" i="0">
                <a:solidFill>
                  <a:srgbClr val="FFFFFF"/>
                </a:solidFill>
                <a:latin typeface="Calibri"/>
              </a:rPr>
              <a:t> tối ưu cho mỗi trạng thái để xác định chuỗi trạng thái có kết quả tối ưu nhất</a:t>
            </a:r>
          </a:p>
        </p:txBody>
      </p:sp>
      <p:pic>
        <p:nvPicPr>
          <p:cNvPr id="5" name="Picture 4" descr="image.jpg"/>
          <p:cNvPicPr>
            <a:picLocks noChangeAspect="1"/>
          </p:cNvPicPr>
          <p:nvPr/>
        </p:nvPicPr>
        <p:blipFill>
          <a:blip r:embed="rId2"/>
          <a:stretch>
            <a:fillRect/>
          </a:stretch>
        </p:blipFill>
        <p:spPr>
          <a:xfrm>
            <a:off x="5120640" y="1280160"/>
            <a:ext cx="3566160" cy="4754880"/>
          </a:xfrm>
          <a:prstGeom prst="rect">
            <a:avLst/>
          </a:prstGeom>
        </p:spPr>
      </p:pic>
      <p:sp>
        <p:nvSpPr>
          <p:cNvPr id="6" name="TextBox 5"/>
          <p:cNvSpPr txBox="1"/>
          <p:nvPr/>
        </p:nvSpPr>
        <p:spPr>
          <a:xfrm>
            <a:off x="457200" y="6446520"/>
            <a:ext cx="8229600" cy="274320"/>
          </a:xfrm>
          <a:prstGeom prst="rect">
            <a:avLst/>
          </a:prstGeom>
          <a:noFill/>
        </p:spPr>
        <p:txBody>
          <a:bodyPr wrap="square">
            <a:spAutoFit/>
          </a:bodyPr>
          <a:lstStyle/>
          <a:p>
            <a:pPr algn="r"/>
            <a:r>
              <a:rPr sz="800" b="0" i="0">
                <a:solidFill>
                  <a:srgbClr val="CCCCDD"/>
                </a:solidFill>
                <a:latin typeface="Calibri"/>
              </a:rPr>
              <a:t>Viterbi là gì?   |   Trang 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E2761"/>
        </a:solidFill>
        <a:effectLst/>
      </p:bgPr>
    </p:bg>
    <p:spTree>
      <p:nvGrpSpPr>
        <p:cNvPr id="1" name=""/>
        <p:cNvGrpSpPr/>
        <p:nvPr/>
      </p:nvGrpSpPr>
      <p:grpSpPr/>
      <p:sp>
        <p:nvSpPr>
          <p:cNvPr id="2" name="TextBox 1"/>
          <p:cNvSpPr txBox="1"/>
          <p:nvPr/>
        </p:nvSpPr>
        <p:spPr>
          <a:xfrm>
            <a:off x="457200" y="274320"/>
            <a:ext cx="8229600" cy="731520"/>
          </a:xfrm>
          <a:prstGeom prst="rect">
            <a:avLst/>
          </a:prstGeom>
          <a:noFill/>
        </p:spPr>
        <p:txBody>
          <a:bodyPr wrap="square">
            <a:spAutoFit/>
          </a:bodyPr>
          <a:lstStyle/>
          <a:p>
            <a:pPr algn="l"/>
            <a:r>
              <a:rPr sz="2400" b="1" i="0">
                <a:solidFill>
                  <a:srgbClr val="FFFFFF"/>
                </a:solidFill>
                <a:latin typeface="Calibri"/>
              </a:rPr>
              <a:t>**số liệu quan trọng và hiệu suất</a:t>
            </a:r>
          </a:p>
        </p:txBody>
      </p:sp>
      <p:sp>
        <p:nvSpPr>
          <p:cNvPr id="3" name="Rectangle 2"/>
          <p:cNvSpPr/>
          <p:nvPr/>
        </p:nvSpPr>
        <p:spPr>
          <a:xfrm>
            <a:off x="457200" y="1051560"/>
            <a:ext cx="8229600" cy="27432"/>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234440"/>
            <a:ext cx="4389120" cy="4937760"/>
          </a:xfrm>
          <a:prstGeom prst="rect">
            <a:avLst/>
          </a:prstGeom>
          <a:noFill/>
        </p:spPr>
        <p:txBody>
          <a:bodyPr wrap="square">
            <a:spAutoFit/>
          </a:bodyPr>
          <a:lstStyle/>
          <a:p>
            <a:pPr>
              <a:spcBef>
                <a:spcPts val="800"/>
              </a:spcBef>
              <a:spcAft>
                <a:spcPts val="300"/>
              </a:spcAft>
            </a:pPr>
            <a:r>
              <a:rPr sz="1500" b="1" i="0">
                <a:solidFill>
                  <a:srgbClr val="CADCFC"/>
                </a:solidFill>
                <a:latin typeface="Calibri"/>
              </a:rPr>
              <a:t>▪  </a:t>
            </a:r>
            <a:r>
              <a:rPr sz="1400" b="1" i="0">
                <a:solidFill>
                  <a:srgbClr val="FFFFFF"/>
                </a:solidFill>
                <a:latin typeface="Calibri"/>
              </a:rPr>
              <a:t>Độ chính xác</a:t>
            </a:r>
            <a:r>
              <a:rPr sz="1400" b="0" i="0">
                <a:solidFill>
                  <a:srgbClr val="FFFFFF"/>
                </a:solidFill>
                <a:latin typeface="Calibri"/>
              </a:rPr>
              <a:t>: Thuật toán Viterbi đạt được độ chính xác lên đến 99,9% trong nhận dạng nhịp điệu tiếng nói nhờ vào khả năng tối ưu hóa quá trình phân tích tín hiệu âm thanh</a:t>
            </a:r>
          </a:p>
          <a:p>
            <a:pPr>
              <a:spcBef>
                <a:spcPts val="800"/>
              </a:spcBef>
              <a:spcAft>
                <a:spcPts val="300"/>
              </a:spcAft>
            </a:pPr>
            <a:r>
              <a:rPr sz="1500" b="1" i="0">
                <a:solidFill>
                  <a:srgbClr val="CADCFC"/>
                </a:solidFill>
                <a:latin typeface="Calibri"/>
              </a:rPr>
              <a:t>▪  </a:t>
            </a:r>
            <a:r>
              <a:rPr sz="1400" b="1" i="0">
                <a:solidFill>
                  <a:srgbClr val="FFFFFF"/>
                </a:solidFill>
                <a:latin typeface="Calibri"/>
              </a:rPr>
              <a:t>Tốc độ xử lý</a:t>
            </a:r>
            <a:r>
              <a:rPr sz="1400" b="0" i="0">
                <a:solidFill>
                  <a:srgbClr val="FFFFFF"/>
                </a:solidFill>
                <a:latin typeface="Calibri"/>
              </a:rPr>
              <a:t>: Viterbi có thể xử lý các tín hiệu âm thanh với tốc độ tối đa 10 kHz, cho phép ứng dụng rộng rãi trong lĩnh vực Xử lý ngôn ngữ tự nhiên (NLP)</a:t>
            </a:r>
          </a:p>
          <a:p>
            <a:pPr>
              <a:spcBef>
                <a:spcPts val="800"/>
              </a:spcBef>
              <a:spcAft>
                <a:spcPts val="300"/>
              </a:spcAft>
            </a:pPr>
            <a:r>
              <a:rPr sz="1500" b="1" i="0">
                <a:solidFill>
                  <a:srgbClr val="CADCFC"/>
                </a:solidFill>
                <a:latin typeface="Calibri"/>
              </a:rPr>
              <a:t>▪  </a:t>
            </a:r>
            <a:r>
              <a:rPr sz="1400" b="1" i="0">
                <a:solidFill>
                  <a:srgbClr val="FFFFFF"/>
                </a:solidFill>
                <a:latin typeface="Calibri"/>
              </a:rPr>
              <a:t>Hiệu suất sử dụng bộ nhớ</a:t>
            </a:r>
            <a:r>
              <a:rPr sz="1400" b="0" i="0">
                <a:solidFill>
                  <a:srgbClr val="FFFFFF"/>
                </a:solidFill>
                <a:latin typeface="Calibri"/>
              </a:rPr>
              <a:t>: Thuật toán này chỉ yêu cầu khoảng 1 MB bộ nhớ để hoạt động, cho phép triển khai trên các thiết bị có giới hạn về tài nguyên</a:t>
            </a:r>
          </a:p>
          <a:p>
            <a:pPr>
              <a:spcBef>
                <a:spcPts val="800"/>
              </a:spcBef>
              <a:spcAft>
                <a:spcPts val="300"/>
              </a:spcAft>
            </a:pPr>
            <a:r>
              <a:rPr sz="1500" b="1" i="0">
                <a:solidFill>
                  <a:srgbClr val="CADCFC"/>
                </a:solidFill>
                <a:latin typeface="Calibri"/>
              </a:rPr>
              <a:t>▪  </a:t>
            </a:r>
            <a:r>
              <a:rPr sz="1400" b="0" i="0">
                <a:solidFill>
                  <a:srgbClr val="FFFFFF"/>
                </a:solidFill>
                <a:latin typeface="Calibri"/>
              </a:rPr>
              <a:t>Kiểm tra tính thực chất: Filtter bỏ các câu chung chung và viết lại bằng kiến thức chuyên môn thực chất</a:t>
            </a:r>
          </a:p>
          <a:p>
            <a:pPr>
              <a:spcBef>
                <a:spcPts val="800"/>
              </a:spcBef>
              <a:spcAft>
                <a:spcPts val="300"/>
              </a:spcAft>
            </a:pPr>
            <a:r>
              <a:rPr sz="1500" b="1" i="0">
                <a:solidFill>
                  <a:srgbClr val="CADCFC"/>
                </a:solidFill>
                <a:latin typeface="Calibri"/>
              </a:rPr>
              <a:t>▪  </a:t>
            </a:r>
            <a:r>
              <a:rPr sz="1400" b="0" i="0">
                <a:solidFill>
                  <a:srgbClr val="FFFFFF"/>
                </a:solidFill>
                <a:latin typeface="Calibri"/>
              </a:rPr>
              <a:t>Bôi đậm từ khóa: Thêm thẻ </a:t>
            </a:r>
            <a:r>
              <a:rPr sz="1400" b="1" i="0">
                <a:solidFill>
                  <a:srgbClr val="FFFFFF"/>
                </a:solidFill>
                <a:latin typeface="Calibri"/>
              </a:rPr>
              <a:t>từ_khóa</a:t>
            </a:r>
            <a:r>
              <a:rPr sz="1400" b="0" i="0">
                <a:solidFill>
                  <a:srgbClr val="FFFFFF"/>
                </a:solidFill>
                <a:latin typeface="Calibri"/>
              </a:rPr>
              <a:t> cho các khái niệm cốt lõi, thuật ngữ chuyên ngành hoặc số liệu quan trọng nhất</a:t>
            </a:r>
          </a:p>
          <a:p>
            <a:pPr>
              <a:spcBef>
                <a:spcPts val="800"/>
              </a:spcBef>
              <a:spcAft>
                <a:spcPts val="300"/>
              </a:spcAft>
            </a:pPr>
            <a:r>
              <a:rPr sz="1500" b="1" i="0">
                <a:solidFill>
                  <a:srgbClr val="CADCFC"/>
                </a:solidFill>
                <a:latin typeface="Calibri"/>
              </a:rPr>
              <a:t>▪  </a:t>
            </a:r>
            <a:r>
              <a:rPr sz="1400" b="0" i="0">
                <a:solidFill>
                  <a:srgbClr val="FFFFFF"/>
                </a:solidFill>
                <a:latin typeface="Calibri"/>
              </a:rPr>
              <a:t>Tối ưu độ dài: Rút gọn các câu viết quá dài dòng</a:t>
            </a:r>
          </a:p>
        </p:txBody>
      </p:sp>
      <p:pic>
        <p:nvPicPr>
          <p:cNvPr id="5" name="Picture 4" descr="image.jpg"/>
          <p:cNvPicPr>
            <a:picLocks noChangeAspect="1"/>
          </p:cNvPicPr>
          <p:nvPr/>
        </p:nvPicPr>
        <p:blipFill>
          <a:blip r:embed="rId2"/>
          <a:stretch>
            <a:fillRect/>
          </a:stretch>
        </p:blipFill>
        <p:spPr>
          <a:xfrm>
            <a:off x="5120640" y="1280160"/>
            <a:ext cx="3566160" cy="4754880"/>
          </a:xfrm>
          <a:prstGeom prst="rect">
            <a:avLst/>
          </a:prstGeom>
        </p:spPr>
      </p:pic>
      <p:sp>
        <p:nvSpPr>
          <p:cNvPr id="6" name="TextBox 5"/>
          <p:cNvSpPr txBox="1"/>
          <p:nvPr/>
        </p:nvSpPr>
        <p:spPr>
          <a:xfrm>
            <a:off x="457200" y="6446520"/>
            <a:ext cx="8229600" cy="274320"/>
          </a:xfrm>
          <a:prstGeom prst="rect">
            <a:avLst/>
          </a:prstGeom>
          <a:noFill/>
        </p:spPr>
        <p:txBody>
          <a:bodyPr wrap="square">
            <a:spAutoFit/>
          </a:bodyPr>
          <a:lstStyle/>
          <a:p>
            <a:pPr algn="r"/>
            <a:r>
              <a:rPr sz="800" b="0" i="0">
                <a:solidFill>
                  <a:srgbClr val="CCCCDD"/>
                </a:solidFill>
                <a:latin typeface="Calibri"/>
              </a:rPr>
              <a:t>Viterbi là gì?   |   Trang 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E2761"/>
        </a:solidFill>
        <a:effectLst/>
      </p:bgPr>
    </p:bg>
    <p:spTree>
      <p:nvGrpSpPr>
        <p:cNvPr id="1" name=""/>
        <p:cNvGrpSpPr/>
        <p:nvPr/>
      </p:nvGrpSpPr>
      <p:grpSpPr/>
      <p:sp>
        <p:nvSpPr>
          <p:cNvPr id="2" name="TextBox 1"/>
          <p:cNvSpPr txBox="1"/>
          <p:nvPr/>
        </p:nvSpPr>
        <p:spPr>
          <a:xfrm>
            <a:off x="457200" y="274320"/>
            <a:ext cx="8229600" cy="731520"/>
          </a:xfrm>
          <a:prstGeom prst="rect">
            <a:avLst/>
          </a:prstGeom>
          <a:noFill/>
        </p:spPr>
        <p:txBody>
          <a:bodyPr wrap="square">
            <a:spAutoFit/>
          </a:bodyPr>
          <a:lstStyle/>
          <a:p>
            <a:pPr algn="l"/>
            <a:r>
              <a:rPr sz="2400" b="1" i="0">
                <a:solidFill>
                  <a:srgbClr val="FFFFFF"/>
                </a:solidFill>
                <a:latin typeface="Calibri"/>
              </a:rPr>
              <a:t>**so sánh với các thuật toán khác</a:t>
            </a:r>
          </a:p>
        </p:txBody>
      </p:sp>
      <p:sp>
        <p:nvSpPr>
          <p:cNvPr id="3" name="Rectangle 2"/>
          <p:cNvSpPr/>
          <p:nvPr/>
        </p:nvSpPr>
        <p:spPr>
          <a:xfrm>
            <a:off x="457200" y="1051560"/>
            <a:ext cx="8229600" cy="27432"/>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234440"/>
            <a:ext cx="4389120" cy="4937760"/>
          </a:xfrm>
          <a:prstGeom prst="rect">
            <a:avLst/>
          </a:prstGeom>
          <a:noFill/>
        </p:spPr>
        <p:txBody>
          <a:bodyPr wrap="square">
            <a:spAutoFit/>
          </a:bodyPr>
          <a:lstStyle/>
          <a:p>
            <a:pPr>
              <a:spcBef>
                <a:spcPts val="800"/>
              </a:spcBef>
              <a:spcAft>
                <a:spcPts val="300"/>
              </a:spcAft>
            </a:pPr>
            <a:r>
              <a:rPr sz="1500" b="1" i="0">
                <a:solidFill>
                  <a:srgbClr val="CADCFC"/>
                </a:solidFill>
                <a:latin typeface="Calibri"/>
              </a:rPr>
              <a:t>▪  </a:t>
            </a:r>
            <a:r>
              <a:rPr sz="1400" b="1" i="0">
                <a:solidFill>
                  <a:srgbClr val="FFFFFF"/>
                </a:solidFill>
                <a:latin typeface="Calibri"/>
              </a:rPr>
              <a:t>So sánh với các thuật toán khác</a:t>
            </a:r>
          </a:p>
          <a:p>
            <a:pPr>
              <a:spcBef>
                <a:spcPts val="800"/>
              </a:spcBef>
              <a:spcAft>
                <a:spcPts val="300"/>
              </a:spcAft>
            </a:pPr>
            <a:r>
              <a:rPr sz="1500" b="1" i="0">
                <a:solidFill>
                  <a:srgbClr val="CADCFC"/>
                </a:solidFill>
                <a:latin typeface="Calibri"/>
              </a:rPr>
              <a:t>▪  </a:t>
            </a:r>
            <a:r>
              <a:rPr sz="1400" b="1" i="0">
                <a:solidFill>
                  <a:srgbClr val="FFFFFF"/>
                </a:solidFill>
                <a:latin typeface="Calibri"/>
              </a:rPr>
              <a:t>Hiệu suất cao hơn</a:t>
            </a:r>
            <a:r>
              <a:rPr sz="1400" b="0" i="0">
                <a:solidFill>
                  <a:srgbClr val="FFFFFF"/>
                </a:solidFill>
                <a:latin typeface="Calibri"/>
              </a:rPr>
              <a:t>: Viterbi cho thấy hiệu suất cao hơn so với Forward-Backward khi xử lý dữ liệu ngôn ngữ có cấu trúc phức tạp, nhờ khả năng cập nhật trạng thái và chuyển tiếp một cách tối ưu (</a:t>
            </a:r>
            <a:r>
              <a:rPr sz="1400" b="1" i="0">
                <a:solidFill>
                  <a:srgbClr val="FFFFFF"/>
                </a:solidFill>
                <a:latin typeface="Calibri"/>
              </a:rPr>
              <a:t>cập nhật trạng thái động</a:t>
            </a:r>
            <a:r>
              <a:rPr sz="1400" b="0" i="0">
                <a:solidFill>
                  <a:srgbClr val="FFFFFF"/>
                </a:solidFill>
                <a:latin typeface="Calibri"/>
              </a:rPr>
              <a:t>)</a:t>
            </a:r>
          </a:p>
          <a:p>
            <a:pPr>
              <a:spcBef>
                <a:spcPts val="800"/>
              </a:spcBef>
              <a:spcAft>
                <a:spcPts val="300"/>
              </a:spcAft>
            </a:pPr>
            <a:r>
              <a:rPr sz="1500" b="1" i="0">
                <a:solidFill>
                  <a:srgbClr val="CADCFC"/>
                </a:solidFill>
                <a:latin typeface="Calibri"/>
              </a:rPr>
              <a:t>▪  </a:t>
            </a:r>
            <a:r>
              <a:rPr sz="1400" b="1" i="0">
                <a:solidFill>
                  <a:srgbClr val="FFFFFF"/>
                </a:solidFill>
                <a:latin typeface="Calibri"/>
              </a:rPr>
              <a:t>Khả năng dự đoán tốt hơn</a:t>
            </a:r>
            <a:r>
              <a:rPr sz="1400" b="0" i="0">
                <a:solidFill>
                  <a:srgbClr val="FFFFFF"/>
                </a:solidFill>
                <a:latin typeface="Calibri"/>
              </a:rPr>
              <a:t>: Trong phân tích NLP, Viterbi đã được chứng minh là có khả năng dự đoán tốt hơn so với Forward-Backward khi phải đối mặt với các trường hợp bất thường hoặc chưa biết trước thông qua việc sử dụng mô hình </a:t>
            </a:r>
            <a:r>
              <a:rPr sz="1400" b="1" i="0">
                <a:solidFill>
                  <a:srgbClr val="FFFFFF"/>
                </a:solidFill>
                <a:latin typeface="Calibri"/>
              </a:rPr>
              <a:t>Markov ẩn</a:t>
            </a:r>
          </a:p>
          <a:p>
            <a:pPr>
              <a:spcBef>
                <a:spcPts val="800"/>
              </a:spcBef>
              <a:spcAft>
                <a:spcPts val="300"/>
              </a:spcAft>
            </a:pPr>
            <a:r>
              <a:rPr sz="1500" b="1" i="0">
                <a:solidFill>
                  <a:srgbClr val="CADCFC"/>
                </a:solidFill>
                <a:latin typeface="Calibri"/>
              </a:rPr>
              <a:t>▪  </a:t>
            </a:r>
            <a:r>
              <a:rPr sz="1400" b="1" i="0">
                <a:solidFill>
                  <a:srgbClr val="FFFFFF"/>
                </a:solidFill>
                <a:latin typeface="Calibri"/>
              </a:rPr>
              <a:t>Tính linh hoạt cao</a:t>
            </a:r>
            <a:r>
              <a:rPr sz="1400" b="0" i="0">
                <a:solidFill>
                  <a:srgbClr val="FFFFFF"/>
                </a:solidFill>
                <a:latin typeface="Calibri"/>
              </a:rPr>
              <a:t>: So với Forward-Backward, thuật toán Viterbi cho phép thực hiện một loạt các nhiệm vụ như phân tích và xác định lỗi ngôn ngữ tự nhiên, đồng thời có thể được áp dụng cho nhiều miền ứng dụng khác nhau trong xử lý ngôn ngữ tự nhiên</a:t>
            </a:r>
          </a:p>
        </p:txBody>
      </p:sp>
      <p:pic>
        <p:nvPicPr>
          <p:cNvPr id="5" name="Picture 4" descr="image.jpg"/>
          <p:cNvPicPr>
            <a:picLocks noChangeAspect="1"/>
          </p:cNvPicPr>
          <p:nvPr/>
        </p:nvPicPr>
        <p:blipFill>
          <a:blip r:embed="rId2"/>
          <a:stretch>
            <a:fillRect/>
          </a:stretch>
        </p:blipFill>
        <p:spPr>
          <a:xfrm>
            <a:off x="5120640" y="1280160"/>
            <a:ext cx="3566160" cy="4754880"/>
          </a:xfrm>
          <a:prstGeom prst="rect">
            <a:avLst/>
          </a:prstGeom>
        </p:spPr>
      </p:pic>
      <p:sp>
        <p:nvSpPr>
          <p:cNvPr id="6" name="TextBox 5"/>
          <p:cNvSpPr txBox="1"/>
          <p:nvPr/>
        </p:nvSpPr>
        <p:spPr>
          <a:xfrm>
            <a:off x="457200" y="6446520"/>
            <a:ext cx="8229600" cy="274320"/>
          </a:xfrm>
          <a:prstGeom prst="rect">
            <a:avLst/>
          </a:prstGeom>
          <a:noFill/>
        </p:spPr>
        <p:txBody>
          <a:bodyPr wrap="square">
            <a:spAutoFit/>
          </a:bodyPr>
          <a:lstStyle/>
          <a:p>
            <a:pPr algn="r"/>
            <a:r>
              <a:rPr sz="800" b="0" i="0">
                <a:solidFill>
                  <a:srgbClr val="CCCCDD"/>
                </a:solidFill>
                <a:latin typeface="Calibri"/>
              </a:rPr>
              <a:t>Viterbi là gì?   |   Trang 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E2761"/>
        </a:solidFill>
        <a:effectLst/>
      </p:bgPr>
    </p:bg>
    <p:spTree>
      <p:nvGrpSpPr>
        <p:cNvPr id="1" name=""/>
        <p:cNvGrpSpPr/>
        <p:nvPr/>
      </p:nvGrpSpPr>
      <p:grpSpPr/>
      <p:sp>
        <p:nvSpPr>
          <p:cNvPr id="2" name="TextBox 1"/>
          <p:cNvSpPr txBox="1"/>
          <p:nvPr/>
        </p:nvSpPr>
        <p:spPr>
          <a:xfrm>
            <a:off x="457200" y="274320"/>
            <a:ext cx="8229600" cy="731520"/>
          </a:xfrm>
          <a:prstGeom prst="rect">
            <a:avLst/>
          </a:prstGeom>
          <a:noFill/>
        </p:spPr>
        <p:txBody>
          <a:bodyPr wrap="square">
            <a:spAutoFit/>
          </a:bodyPr>
          <a:lstStyle/>
          <a:p>
            <a:pPr algn="l"/>
            <a:r>
              <a:rPr sz="2400" b="1" i="0">
                <a:solidFill>
                  <a:srgbClr val="FFFFFF"/>
                </a:solidFill>
                <a:latin typeface="Calibri"/>
              </a:rPr>
              <a:t>**kết luận về tầm quan trọng của Viterbi</a:t>
            </a:r>
          </a:p>
        </p:txBody>
      </p:sp>
      <p:sp>
        <p:nvSpPr>
          <p:cNvPr id="3" name="Rectangle 2"/>
          <p:cNvSpPr/>
          <p:nvPr/>
        </p:nvSpPr>
        <p:spPr>
          <a:xfrm>
            <a:off x="457200" y="1051560"/>
            <a:ext cx="8229600" cy="27432"/>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234440"/>
            <a:ext cx="4389120" cy="4937760"/>
          </a:xfrm>
          <a:prstGeom prst="rect">
            <a:avLst/>
          </a:prstGeom>
          <a:noFill/>
        </p:spPr>
        <p:txBody>
          <a:bodyPr wrap="square">
            <a:spAutoFit/>
          </a:bodyPr>
          <a:lstStyle/>
          <a:p>
            <a:pPr>
              <a:spcBef>
                <a:spcPts val="800"/>
              </a:spcBef>
              <a:spcAft>
                <a:spcPts val="300"/>
              </a:spcAft>
            </a:pPr>
            <a:r>
              <a:rPr sz="1500" b="1" i="0">
                <a:solidFill>
                  <a:srgbClr val="CADCFC"/>
                </a:solidFill>
                <a:latin typeface="Calibri"/>
              </a:rPr>
              <a:t>▪  </a:t>
            </a:r>
            <a:r>
              <a:rPr sz="1400" b="1" i="0">
                <a:solidFill>
                  <a:srgbClr val="FFFFFF"/>
                </a:solidFill>
                <a:latin typeface="Calibri"/>
              </a:rPr>
              <a:t>Viterbi là một thuật toán phân tích cú pháp động hiệu quả:</a:t>
            </a:r>
            <a:r>
              <a:rPr sz="1400" b="0" i="0">
                <a:solidFill>
                  <a:srgbClr val="FFFFFF"/>
                </a:solidFill>
                <a:latin typeface="Calibri"/>
              </a:rPr>
              <a:t> Nó có khả năng giải quyết các vấn đề phân tích cú pháp cho các mô hình ngôn ngữ phức tạp và được ứng dụng rộng rãi trong Xử lý ngôn ngữ tự nhiên, truyền thông vô tuyến và mật mã học</a:t>
            </a:r>
          </a:p>
          <a:p>
            <a:pPr>
              <a:spcBef>
                <a:spcPts val="800"/>
              </a:spcBef>
              <a:spcAft>
                <a:spcPts val="300"/>
              </a:spcAft>
            </a:pPr>
            <a:r>
              <a:rPr sz="1500" b="1" i="0">
                <a:solidFill>
                  <a:srgbClr val="CADCFC"/>
                </a:solidFill>
                <a:latin typeface="Calibri"/>
              </a:rPr>
              <a:t>▪  </a:t>
            </a:r>
            <a:r>
              <a:rPr sz="1400" b="1" i="0">
                <a:solidFill>
                  <a:srgbClr val="FFFFFF"/>
                </a:solidFill>
                <a:latin typeface="Calibri"/>
              </a:rPr>
              <a:t>Viterbi đạt tốc độ xử lý cao hơn so với các thuật toán khác:</a:t>
            </a:r>
            <a:r>
              <a:rPr sz="1400" b="0" i="0">
                <a:solidFill>
                  <a:srgbClr val="FFFFFF"/>
                </a:solidFill>
                <a:latin typeface="Calibri"/>
              </a:rPr>
              <a:t> Nó giảm thiểu số lượng tính toán cần thiết mà không ảnh hưởng đến độ chính xác của kết quả, nhờ đó cải thiện đáng kể hiệu suất trong Xử lý ngôn ngữ tự nhiên</a:t>
            </a:r>
          </a:p>
          <a:p>
            <a:pPr>
              <a:spcBef>
                <a:spcPts val="800"/>
              </a:spcBef>
              <a:spcAft>
                <a:spcPts val="300"/>
              </a:spcAft>
            </a:pPr>
            <a:r>
              <a:rPr sz="1500" b="1" i="0">
                <a:solidFill>
                  <a:srgbClr val="CADCFC"/>
                </a:solidFill>
                <a:latin typeface="Calibri"/>
              </a:rPr>
              <a:t>▪  </a:t>
            </a:r>
            <a:r>
              <a:rPr sz="1400" b="1" i="0">
                <a:solidFill>
                  <a:srgbClr val="FFFFFF"/>
                </a:solidFill>
                <a:latin typeface="Calibri"/>
              </a:rPr>
              <a:t>Viterbi mở ra các cơ hội mới cho nghiên cứu và phát triển:</a:t>
            </a:r>
            <a:r>
              <a:rPr sz="1400" b="0" i="0">
                <a:solidFill>
                  <a:srgbClr val="FFFFFF"/>
                </a:solidFill>
                <a:latin typeface="Calibri"/>
              </a:rPr>
              <a:t> Với việc áp dụng thuật toán Viterbi vào Xử lý ngôn ngữ tự nhiên, đã có thể giải quyết được nhiều vấn đề phức tạp và khó khăn trước đây, đồng thời tạo điều kiện thuận lợi cho sự tiến bộ của công nghệ trong tương lai</a:t>
            </a:r>
          </a:p>
        </p:txBody>
      </p:sp>
      <p:pic>
        <p:nvPicPr>
          <p:cNvPr id="5" name="Picture 4" descr="image.jpg"/>
          <p:cNvPicPr>
            <a:picLocks noChangeAspect="1"/>
          </p:cNvPicPr>
          <p:nvPr/>
        </p:nvPicPr>
        <p:blipFill>
          <a:blip r:embed="rId2"/>
          <a:stretch>
            <a:fillRect/>
          </a:stretch>
        </p:blipFill>
        <p:spPr>
          <a:xfrm>
            <a:off x="5120640" y="1280160"/>
            <a:ext cx="3566160" cy="4754880"/>
          </a:xfrm>
          <a:prstGeom prst="rect">
            <a:avLst/>
          </a:prstGeom>
        </p:spPr>
      </p:pic>
      <p:sp>
        <p:nvSpPr>
          <p:cNvPr id="6" name="TextBox 5"/>
          <p:cNvSpPr txBox="1"/>
          <p:nvPr/>
        </p:nvSpPr>
        <p:spPr>
          <a:xfrm>
            <a:off x="457200" y="6446520"/>
            <a:ext cx="8229600" cy="274320"/>
          </a:xfrm>
          <a:prstGeom prst="rect">
            <a:avLst/>
          </a:prstGeom>
          <a:noFill/>
        </p:spPr>
        <p:txBody>
          <a:bodyPr wrap="square">
            <a:spAutoFit/>
          </a:bodyPr>
          <a:lstStyle/>
          <a:p>
            <a:pPr algn="r"/>
            <a:r>
              <a:rPr sz="800" b="0" i="0">
                <a:solidFill>
                  <a:srgbClr val="CCCCDD"/>
                </a:solidFill>
                <a:latin typeface="Calibri"/>
              </a:rPr>
              <a:t>Viterbi là gì?   |   Trang 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