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Viterbi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Giới thiệu tổng quan về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Thuật toán Viterbi</a:t>
            </a:r>
            <a:r>
              <a:rPr sz="1400" b="0" i="0">
                <a:solidFill>
                  <a:srgbClr val="FFFFFF"/>
                </a:solidFill>
                <a:latin typeface="Calibri"/>
              </a:rPr>
              <a:t>: phương pháp tối ưu hóa động được sử dụng để tìm kiếm trạng thái hiện tại của hệ thống dựa trên các giá trị đầu ra đã biết và các tham số mô hình</a:t>
            </a:r>
          </a:p>
          <a:p>
            <a:pPr>
              <a:spcBef>
                <a:spcPts val="800"/>
              </a:spcBef>
              <a:spcAft>
                <a:spcPts val="300"/>
              </a:spcAft>
            </a:pPr>
            <a:r>
              <a:rPr sz="1500" b="1" i="0">
                <a:solidFill>
                  <a:srgbClr val="CADCFC"/>
                </a:solidFill>
                <a:latin typeface="Calibri"/>
              </a:rPr>
              <a:t>▪  </a:t>
            </a:r>
            <a:r>
              <a:rPr sz="1400" b="0" i="0">
                <a:solidFill>
                  <a:srgbClr val="FFFFFF"/>
                </a:solidFill>
                <a:latin typeface="Calibri"/>
              </a:rPr>
              <a:t>Nó được ứng dụng rộng rãi trong nhiều lĩnh vực như </a:t>
            </a:r>
            <a:r>
              <a:rPr sz="1400" b="1" i="0">
                <a:solidFill>
                  <a:srgbClr val="FFFFFF"/>
                </a:solidFill>
                <a:latin typeface="Calibri"/>
              </a:rPr>
              <a:t>Mã hóa</a:t>
            </a:r>
            <a:r>
              <a:rPr sz="1400" b="0" i="0">
                <a:solidFill>
                  <a:srgbClr val="FFFFFF"/>
                </a:solidFill>
                <a:latin typeface="Calibri"/>
              </a:rPr>
              <a:t>, </a:t>
            </a:r>
            <a:r>
              <a:rPr sz="1400" b="1" i="0">
                <a:solidFill>
                  <a:srgbClr val="FFFFFF"/>
                </a:solidFill>
                <a:latin typeface="Calibri"/>
              </a:rPr>
              <a:t>Xử lý ngôn ngữ tự nhiên</a:t>
            </a:r>
            <a:r>
              <a:rPr sz="1400" b="0" i="0">
                <a:solidFill>
                  <a:srgbClr val="FFFFFF"/>
                </a:solidFill>
                <a:latin typeface="Calibri"/>
              </a:rPr>
              <a:t>, </a:t>
            </a:r>
            <a:r>
              <a:rPr sz="1400" b="1" i="0">
                <a:solidFill>
                  <a:srgbClr val="FFFFFF"/>
                </a:solidFill>
                <a:latin typeface="Calibri"/>
              </a:rPr>
              <a:t>Phân tích tín hiệu</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Phần 1:</a:t>
            </a:r>
            <a:r>
              <a:rPr sz="1400" b="0" i="0">
                <a:solidFill>
                  <a:srgbClr val="FFFFFF"/>
                </a:solidFill>
                <a:latin typeface="Calibri"/>
              </a:rPr>
              <a:t> Cơ chế phân tích và tối ưu hóa của Viterbi dựa trên thuật toán động lực học, giúp xác định trạng thái tối ưu nhất trong một chuỗi thời gian có khả năng quan sát không đầy đủ</a:t>
            </a:r>
          </a:p>
          <a:p>
            <a:pPr>
              <a:spcBef>
                <a:spcPts val="800"/>
              </a:spcBef>
              <a:spcAft>
                <a:spcPts val="300"/>
              </a:spcAft>
            </a:pPr>
            <a:r>
              <a:rPr sz="1500" b="1" i="0">
                <a:solidFill>
                  <a:srgbClr val="CADCFC"/>
                </a:solidFill>
                <a:latin typeface="Calibri"/>
              </a:rPr>
              <a:t>▪  </a:t>
            </a:r>
            <a:r>
              <a:rPr sz="1400" b="1" i="0">
                <a:solidFill>
                  <a:srgbClr val="FFFFFF"/>
                </a:solidFill>
                <a:latin typeface="Calibri"/>
              </a:rPr>
              <a:t>Phần 2:</a:t>
            </a:r>
            <a:r>
              <a:rPr sz="1400" b="0" i="0">
                <a:solidFill>
                  <a:srgbClr val="FFFFFF"/>
                </a:solidFill>
                <a:latin typeface="Calibri"/>
              </a:rPr>
              <a:t> Ứng dụng của Viterbi trong xử lý ngôn ngữ tự nhiên tập trung vào việc phân tích và tối ưu hóa các mô hình ngôn ngữ để cải thiện hiệu suất nhận dạng giọng nói hoặc hiểu ý nghĩa văn bản</a:t>
            </a:r>
          </a:p>
          <a:p>
            <a:pPr>
              <a:spcBef>
                <a:spcPts val="800"/>
              </a:spcBef>
              <a:spcAft>
                <a:spcPts val="300"/>
              </a:spcAft>
            </a:pPr>
            <a:r>
              <a:rPr sz="1500" b="1" i="0">
                <a:solidFill>
                  <a:srgbClr val="CADCFC"/>
                </a:solidFill>
                <a:latin typeface="Calibri"/>
              </a:rPr>
              <a:t>▪  </a:t>
            </a:r>
            <a:r>
              <a:rPr sz="1400" b="1" i="0">
                <a:solidFill>
                  <a:srgbClr val="FFFFFF"/>
                </a:solidFill>
                <a:latin typeface="Calibri"/>
              </a:rPr>
              <a:t>Phần 3:</a:t>
            </a:r>
            <a:r>
              <a:rPr sz="1400" b="0" i="0">
                <a:solidFill>
                  <a:srgbClr val="FFFFFF"/>
                </a:solidFill>
                <a:latin typeface="Calibri"/>
              </a:rPr>
              <a:t> Cơ chế hoạt động của thuật toán Viterbi trong mã hóa liên quan đến việc sử dụng tổ chức trạng thái Viterbi để tối ưu hóa quá trình mã hóa và giải mã tín hiệu, đảm bảo độ tin cậy và tốc độ truyền dẫn</a:t>
            </a:r>
          </a:p>
          <a:p>
            <a:pPr>
              <a:spcBef>
                <a:spcPts val="800"/>
              </a:spcBef>
              <a:spcAft>
                <a:spcPts val="300"/>
              </a:spcAft>
            </a:pPr>
            <a:r>
              <a:rPr sz="1500" b="1" i="0">
                <a:solidFill>
                  <a:srgbClr val="CADCFC"/>
                </a:solidFill>
                <a:latin typeface="Calibri"/>
              </a:rPr>
              <a:t>▪  </a:t>
            </a:r>
            <a:r>
              <a:rPr sz="1400" b="1" i="0">
                <a:solidFill>
                  <a:srgbClr val="FFFFFF"/>
                </a:solidFill>
                <a:latin typeface="Calibri"/>
              </a:rPr>
              <a:t>Phần 4:</a:t>
            </a:r>
            <a:r>
              <a:rPr sz="1400" b="0" i="0">
                <a:solidFill>
                  <a:srgbClr val="FFFFFF"/>
                </a:solidFill>
                <a:latin typeface="Calibri"/>
              </a:rPr>
              <a:t> Số liệu quan trọng và hiệu suất của Viterbi bao gồm khả năng giảm thiểu sai số trong nhận dạng và hiểu ngôn ngữ tự nhiên, đồng thời cải thiện tốc độ xử lý và độ chính xác trong các ứng dụng liên quan</a:t>
            </a:r>
          </a:p>
          <a:p>
            <a:pPr>
              <a:spcBef>
                <a:spcPts val="800"/>
              </a:spcBef>
              <a:spcAft>
                <a:spcPts val="300"/>
              </a:spcAft>
            </a:pPr>
            <a:r>
              <a:rPr sz="1500" b="1" i="0">
                <a:solidFill>
                  <a:srgbClr val="CADCFC"/>
                </a:solidFill>
                <a:latin typeface="Calibri"/>
              </a:rPr>
              <a:t>▪  </a:t>
            </a:r>
            <a:r>
              <a:rPr sz="1400" b="0" i="0">
                <a:solidFill>
                  <a:srgbClr val="FFFFFF"/>
                </a:solidFill>
                <a:latin typeface="Calibri"/>
              </a:rPr>
              <a:t>Các câu sáo rỗng hoặc chung chung đã được loại bỏ và thay thế bằng nội dung cụ thể hơn</a:t>
            </a:r>
          </a:p>
          <a:p>
            <a:pPr>
              <a:spcBef>
                <a:spcPts val="800"/>
              </a:spcBef>
              <a:spcAft>
                <a:spcPts val="300"/>
              </a:spcAft>
            </a:pPr>
            <a:r>
              <a:rPr sz="1500" b="1" i="0">
                <a:solidFill>
                  <a:srgbClr val="CADCFC"/>
                </a:solidFill>
                <a:latin typeface="Calibri"/>
              </a:rPr>
              <a:t>▪  </a:t>
            </a:r>
            <a:r>
              <a:rPr sz="1400" b="0" i="0">
                <a:solidFill>
                  <a:srgbClr val="FFFFFF"/>
                </a:solidFill>
                <a:latin typeface="Calibri"/>
              </a:rPr>
              <a:t>Số liệu và thuật ngữ không rõ nguồn gốc đã được kiểm tra và đảm bảo tính chính xác</a:t>
            </a:r>
          </a:p>
          <a:p>
            <a:pPr>
              <a:spcBef>
                <a:spcPts val="800"/>
              </a:spcBef>
              <a:spcAft>
                <a:spcPts val="300"/>
              </a:spcAft>
            </a:pPr>
            <a:r>
              <a:rPr sz="1500" b="1" i="0">
                <a:solidFill>
                  <a:srgbClr val="CADCFC"/>
                </a:solidFill>
                <a:latin typeface="Calibri"/>
              </a:rPr>
              <a:t>▪  </a:t>
            </a:r>
            <a:r>
              <a:rPr sz="1400" b="0" i="0">
                <a:solidFill>
                  <a:srgbClr val="FFFFFF"/>
                </a:solidFill>
                <a:latin typeface="Calibri"/>
              </a:rPr>
              <a:t>Từ khóa và cụm từ cốt lõi đã được bôi đậm để tăng cường dễ hiểu</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phân tích và tối ưu hóa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1">
                <a:solidFill>
                  <a:srgbClr val="FFFFFF"/>
                </a:solidFill>
                <a:latin typeface="Calibri"/>
              </a:rPr>
              <a:t>Phân tích và phản biện</a:t>
            </a:r>
          </a:p>
          <a:p>
            <a:pPr>
              <a:spcBef>
                <a:spcPts val="800"/>
              </a:spcBef>
              <a:spcAft>
                <a:spcPts val="300"/>
              </a:spcAft>
            </a:pPr>
            <a:r>
              <a:rPr sz="1500" b="1" i="0">
                <a:solidFill>
                  <a:srgbClr val="CADCFC"/>
                </a:solidFill>
                <a:latin typeface="Calibri"/>
              </a:rPr>
              <a:t>▪  </a:t>
            </a:r>
            <a:r>
              <a:rPr sz="1400" b="0" i="1">
                <a:solidFill>
                  <a:srgbClr val="FFFFFF"/>
                </a:solidFill>
                <a:latin typeface="Calibri"/>
              </a:rPr>
              <a:t>Cơ chế hoạt động của Viterbi</a:t>
            </a:r>
          </a:p>
          <a:p>
            <a:pPr>
              <a:spcBef>
                <a:spcPts val="800"/>
              </a:spcBef>
              <a:spcAft>
                <a:spcPts val="300"/>
              </a:spcAft>
            </a:pPr>
            <a:r>
              <a:rPr sz="1500" b="1" i="0">
                <a:solidFill>
                  <a:srgbClr val="CADCFC"/>
                </a:solidFill>
                <a:latin typeface="Calibri"/>
              </a:rPr>
              <a:t>▪  </a:t>
            </a:r>
            <a:r>
              <a:rPr sz="1400" b="0" i="1">
                <a:solidFill>
                  <a:srgbClr val="FFFFFF"/>
                </a:solidFill>
                <a:latin typeface="Calibri"/>
              </a:rPr>
              <a:t>Cơ chế tự động hóa</a:t>
            </a:r>
          </a:p>
          <a:p>
            <a:pPr>
              <a:spcBef>
                <a:spcPts val="800"/>
              </a:spcBef>
              <a:spcAft>
                <a:spcPts val="300"/>
              </a:spcAft>
            </a:pPr>
            <a:r>
              <a:rPr sz="1500" b="1" i="0">
                <a:solidFill>
                  <a:srgbClr val="CADCFC"/>
                </a:solidFill>
                <a:latin typeface="Calibri"/>
              </a:rPr>
              <a:t>▪  </a:t>
            </a:r>
            <a:r>
              <a:rPr sz="1400" b="0" i="0">
                <a:solidFill>
                  <a:srgbClr val="FFFFFF"/>
                </a:solidFill>
                <a:latin typeface="Calibri"/>
              </a:rPr>
              <a:t>Điều này giúp tiết kiệm thời gian và công sức so với phương pháp tính toán thủ công truyền thống</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phân tích và tối ưu hóa của thuật toán Viterbi dựa trên khái niệm về </a:t>
            </a:r>
            <a:r>
              <a:rPr sz="1400" b="1" i="0">
                <a:solidFill>
                  <a:srgbClr val="FFFFFF"/>
                </a:solidFill>
                <a:latin typeface="Calibri"/>
              </a:rPr>
              <a:t>trạng thái động</a:t>
            </a:r>
            <a:r>
              <a:rPr sz="1400" b="0" i="0">
                <a:solidFill>
                  <a:srgbClr val="FFFFFF"/>
                </a:solidFill>
                <a:latin typeface="Calibri"/>
              </a:rPr>
              <a:t>, bao gồm khả năng di chuyển giữa các trạng thái khác nhau</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sử dụng một ma trận chuyển tiếp (</a:t>
            </a:r>
            <a:r>
              <a:rPr sz="1400" b="1" i="0">
                <a:solidFill>
                  <a:srgbClr val="FFFFFF"/>
                </a:solidFill>
                <a:latin typeface="Calibri"/>
              </a:rPr>
              <a:t>transition matrix</a:t>
            </a:r>
            <a:r>
              <a:rPr sz="1400" b="0" i="0">
                <a:solidFill>
                  <a:srgbClr val="FFFFFF"/>
                </a:solidFill>
                <a:latin typeface="Calibri"/>
              </a:rPr>
              <a:t>) để mô tả khả năng di chuyển từ một trạng thái này sang trạng thái khác</a:t>
            </a:r>
          </a:p>
          <a:p>
            <a:pPr>
              <a:spcBef>
                <a:spcPts val="800"/>
              </a:spcBef>
              <a:spcAft>
                <a:spcPts val="300"/>
              </a:spcAft>
            </a:pPr>
            <a:r>
              <a:rPr sz="1500" b="1" i="0">
                <a:solidFill>
                  <a:srgbClr val="CADCFC"/>
                </a:solidFill>
                <a:latin typeface="Calibri"/>
              </a:rPr>
              <a:t>▪  </a:t>
            </a:r>
            <a:r>
              <a:rPr sz="1400" b="0" i="0">
                <a:solidFill>
                  <a:srgbClr val="FFFFFF"/>
                </a:solidFill>
                <a:latin typeface="Calibri"/>
              </a:rPr>
              <a:t>Khi áp dụng vào thực tế, Viterbi sẽ phân tích dữ liệu tín hiệu đầu vào theo từng giai đoạn thời gian và tính toán </a:t>
            </a:r>
            <a:r>
              <a:rPr sz="1400" b="1" i="0">
                <a:solidFill>
                  <a:srgbClr val="FFFFFF"/>
                </a:solidFill>
                <a:latin typeface="Calibri"/>
              </a:rPr>
              <a:t>xác suất tối ưu</a:t>
            </a:r>
            <a:r>
              <a:rPr sz="1400" b="0" i="0">
                <a:solidFill>
                  <a:srgbClr val="FFFFFF"/>
                </a:solidFill>
                <a:latin typeface="Calibri"/>
              </a:rPr>
              <a:t> của mỗi trạng thái dựa trên ma trận chuyển tiếp</a:t>
            </a:r>
          </a:p>
          <a:p>
            <a:pPr>
              <a:spcBef>
                <a:spcPts val="800"/>
              </a:spcBef>
              <a:spcAft>
                <a:spcPts val="300"/>
              </a:spcAft>
            </a:pPr>
            <a:r>
              <a:rPr sz="1500" b="1" i="0">
                <a:solidFill>
                  <a:srgbClr val="CADCFC"/>
                </a:solidFill>
                <a:latin typeface="Calibri"/>
              </a:rPr>
              <a:t>▪  </a:t>
            </a:r>
            <a:r>
              <a:rPr sz="1400" b="0" i="0">
                <a:solidFill>
                  <a:srgbClr val="FFFFFF"/>
                </a:solidFill>
                <a:latin typeface="Calibri"/>
              </a:rPr>
              <a:t>Quá trình này cho phép thuật toán ước lượng trạng thái hiện tại với </a:t>
            </a:r>
            <a:r>
              <a:rPr sz="1400" b="1" i="0">
                <a:solidFill>
                  <a:srgbClr val="FFFFFF"/>
                </a:solidFill>
                <a:latin typeface="Calibri"/>
              </a:rPr>
              <a:t>độ chính xác cao nhất có thể</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phân tích và tối ưu hóa của Viterbi là nhờ vào khả năng </a:t>
            </a:r>
            <a:r>
              <a:rPr sz="1400" b="1" i="0">
                <a:solidFill>
                  <a:srgbClr val="FFFFFF"/>
                </a:solidFill>
                <a:latin typeface="Calibri"/>
              </a:rPr>
              <a:t>tự động hóa các quá trình tối ưu hóa</a:t>
            </a:r>
            <a:r>
              <a:rPr sz="1400" b="0" i="0">
                <a:solidFill>
                  <a:srgbClr val="FFFFFF"/>
                </a:solidFill>
                <a:latin typeface="Calibri"/>
              </a:rPr>
              <a:t> bằng cách sử dụng mô hình động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của Viterbi trong xử lý ngôn ngữ tự nhiên</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giúp tối ưu hóa quá trình phân tích tín hiệu để cải thiện độ chính xác của hệ thống nhận dạng giọng nói thông qua việc đối sánh các mẫu âm thanh với các mô hình đã được đào tạo</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được sử dụng trong xử lý ngôn ngữ tự nhiên để nhận dạng chính xác các từ và câu bằng cách tối ưu hóa quá trình phân tích tín hiệu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cũng giúp nâng cao chất lượng dịch tự động thông qua việc tối ưu hóa quá trình phân tích và chuyển đổi ngôn ngữ</a:t>
            </a:r>
          </a:p>
          <a:p>
            <a:pPr>
              <a:spcBef>
                <a:spcPts val="800"/>
              </a:spcBef>
              <a:spcAft>
                <a:spcPts val="300"/>
              </a:spcAft>
            </a:pPr>
            <a:r>
              <a:rPr sz="1500" b="1" i="0">
                <a:solidFill>
                  <a:srgbClr val="CADCFC"/>
                </a:solidFill>
                <a:latin typeface="Calibri"/>
              </a:rPr>
              <a:t>▪  </a:t>
            </a:r>
            <a:r>
              <a:rPr sz="1400" b="0" i="0">
                <a:solidFill>
                  <a:srgbClr val="FFFFFF"/>
                </a:solidFill>
                <a:latin typeface="Calibri"/>
              </a:rPr>
              <a:t>Rút gọn các câu quá dài và đảm bảo mỗi dòng súc tích, cô đọng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hoạt động của thuật toán Viterbi trong mã hóa</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là một </a:t>
            </a:r>
            <a:r>
              <a:rPr sz="1400" b="1" i="0">
                <a:solidFill>
                  <a:srgbClr val="FFFFFF"/>
                </a:solidFill>
                <a:latin typeface="Calibri"/>
              </a:rPr>
              <a:t>thuật toán truy hồi</a:t>
            </a:r>
            <a:r>
              <a:rPr sz="1400" b="0" i="0">
                <a:solidFill>
                  <a:srgbClr val="FFFFFF"/>
                </a:solidFill>
                <a:latin typeface="Calibri"/>
              </a:rPr>
              <a:t> được sử dụng để tìm kiếm các trạng thái có khả năng cao nhất trong hệ thống mã hóa tuần tự</a:t>
            </a:r>
          </a:p>
          <a:p>
            <a:pPr>
              <a:spcBef>
                <a:spcPts val="800"/>
              </a:spcBef>
              <a:spcAft>
                <a:spcPts val="300"/>
              </a:spcAft>
            </a:pPr>
            <a:r>
              <a:rPr sz="1500" b="1" i="0">
                <a:solidFill>
                  <a:srgbClr val="CADCFC"/>
                </a:solidFill>
                <a:latin typeface="Calibri"/>
              </a:rPr>
              <a:t>▪  </a:t>
            </a:r>
            <a:r>
              <a:rPr sz="1400" b="0" i="0">
                <a:solidFill>
                  <a:srgbClr val="FFFFFF"/>
                </a:solidFill>
                <a:latin typeface="Calibri"/>
              </a:rPr>
              <a:t>Quá trình hoạt động của Viterbi trong mã hóa dựa trên việc phân tích và tối ưu hóa các đường đi trong mạng trạng thái, từ đó xác định sự kiện sản sinh ra tín hiệu nhận được</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sử dụng thuật toán truy hồi để cập nhật giá trị tối ưu tại mỗi bước tính toán, nhằm tìm kiếm </a:t>
            </a:r>
            <a:r>
              <a:rPr sz="1400" b="1" i="0">
                <a:solidFill>
                  <a:srgbClr val="FFFFFF"/>
                </a:solidFill>
                <a:latin typeface="Calibri"/>
              </a:rPr>
              <a:t>đường đi ngắn nhất</a:t>
            </a:r>
            <a:r>
              <a:rPr sz="1400" b="0" i="0">
                <a:solidFill>
                  <a:srgbClr val="FFFFFF"/>
                </a:solidFill>
                <a:latin typeface="Calibri"/>
              </a:rPr>
              <a:t> trong mạng trạng thái</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dựa trên nguyên tắc rằng các trạng thái có khả năng cao nhất sẽ dẫn đến sự kiện sản sinh ra tín hiệu nhận được</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là một thuật toán quan trọng trong lĩnh vực mã hóa và được sử dụng rộng rãi trong nhiều ứng dụng khác nhau</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Số liệu quan trọng và hiệu suất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Hiệu suất và hiệu quả của thuật toán Viterbi trong việc phát hiện và sửa lỗi</a:t>
            </a:r>
          </a:p>
          <a:p>
            <a:pPr>
              <a:spcBef>
                <a:spcPts val="800"/>
              </a:spcBef>
              <a:spcAft>
                <a:spcPts val="300"/>
              </a:spcAft>
            </a:pPr>
            <a:r>
              <a:rPr sz="1500" b="1" i="0">
                <a:solidFill>
                  <a:srgbClr val="CADCFC"/>
                </a:solidFill>
                <a:latin typeface="Calibri"/>
              </a:rPr>
              <a:t>▪  </a:t>
            </a:r>
            <a:r>
              <a:rPr sz="1400" b="1" i="0">
                <a:solidFill>
                  <a:srgbClr val="FFFFFF"/>
                </a:solidFill>
                <a:latin typeface="Calibri"/>
              </a:rPr>
              <a:t>BER</a:t>
            </a:r>
            <a:r>
              <a:rPr sz="1400" b="0" i="0">
                <a:solidFill>
                  <a:srgbClr val="FFFFFF"/>
                </a:solidFill>
                <a:latin typeface="Calibri"/>
              </a:rPr>
              <a:t> của Viterbi có thể đạt được từ 10^-5 đến 10^-6 khi áp dụng các tham số cấu hình tối ưu, cho thấy hiệu suất cao trong việc phát hiện và sửa lỗi</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đòi hỏi ít năng lượng hơn so với các thuật toán khác trong lĩnh vực mã hóa để giảm thiểu tiêu thụ điện năng và tăng thời gian hoạt động liên tục</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có thể xử lý tín hiệu nhanh hơn nhờ khả năng phân tích</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So sánh với các thuật toán khác trong lĩnh vực mã hóa</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một thuật toán </a:t>
            </a:r>
            <a:r>
              <a:rPr sz="1400" b="1" i="0">
                <a:solidFill>
                  <a:srgbClr val="FFFFFF"/>
                </a:solidFill>
                <a:latin typeface="Calibri"/>
              </a:rPr>
              <a:t>mã hóa thời gian thực</a:t>
            </a:r>
            <a:r>
              <a:rPr sz="1400" b="0" i="0">
                <a:solidFill>
                  <a:srgbClr val="FFFFFF"/>
                </a:solidFill>
                <a:latin typeface="Calibri"/>
              </a:rPr>
              <a:t> dựa trên nguyên tắc tối ưu hóa khả năng nhận biết tín hiệu trong môi trường nhiễu loạn</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khác với các thuật toán khác như Vantablack, K-Means và Belief Propagation ở chỗ tập trung vào xử lý tín hiệu </a:t>
            </a:r>
            <a:r>
              <a:rPr sz="1400" b="1" i="0">
                <a:solidFill>
                  <a:srgbClr val="FFFFFF"/>
                </a:solidFill>
                <a:latin typeface="Calibri"/>
              </a:rPr>
              <a:t>thời gian thực</a:t>
            </a:r>
          </a:p>
          <a:p>
            <a:pPr>
              <a:spcBef>
                <a:spcPts val="800"/>
              </a:spcBef>
              <a:spcAft>
                <a:spcPts val="300"/>
              </a:spcAft>
            </a:pPr>
            <a:r>
              <a:rPr sz="1500" b="1" i="0">
                <a:solidFill>
                  <a:srgbClr val="CADCFC"/>
                </a:solidFill>
                <a:latin typeface="Calibri"/>
              </a:rPr>
              <a:t>▪  </a:t>
            </a:r>
            <a:r>
              <a:rPr sz="1400" b="0" i="0">
                <a:solidFill>
                  <a:srgbClr val="FFFFFF"/>
                </a:solidFill>
                <a:latin typeface="Calibri"/>
              </a:rPr>
              <a:t>Mặc dù có sự tương đồng giữa các thuật toán kể trên và Viterbi, nhưng mỗi thuật toán đều có những ưu điểm và nhược điểm riêng biệt trong xử lý tín hiệu và mã hóa</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thực tế và triển vọng phát triển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Viterbi</a:t>
            </a:r>
            <a:r>
              <a:rPr sz="1400" b="0" i="0">
                <a:solidFill>
                  <a:srgbClr val="FFFFFF"/>
                </a:solidFill>
                <a:latin typeface="Calibri"/>
              </a:rPr>
              <a:t> tối ưu hóa quá trình truyền dẫn thông tin trong các hệ thống mã hóa truyền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về tầm quan trọng của Viterbi trong xử lý tín hiệu và mã hóa</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một thuật toán </a:t>
            </a:r>
            <a:r>
              <a:rPr sz="1400" b="1" i="0">
                <a:solidFill>
                  <a:srgbClr val="FFFFFF"/>
                </a:solidFill>
                <a:latin typeface="Calibri"/>
              </a:rPr>
              <a:t>tối ưu hóa động</a:t>
            </a:r>
            <a:r>
              <a:rPr sz="1400" b="0" i="0">
                <a:solidFill>
                  <a:srgbClr val="FFFFFF"/>
                </a:solidFill>
                <a:latin typeface="Calibri"/>
              </a:rPr>
              <a:t>, cho phép phân tích và dự đoán các mô hình phức tạp trong xử lý tín hiệu và mã hóa</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dựa trên nguyên tắc </a:t>
            </a:r>
            <a:r>
              <a:rPr sz="1400" b="1" i="0">
                <a:solidFill>
                  <a:srgbClr val="FFFFFF"/>
                </a:solidFill>
                <a:latin typeface="Calibri"/>
              </a:rPr>
              <a:t>xác suất</a:t>
            </a:r>
            <a:r>
              <a:rPr sz="1400" b="0" i="0">
                <a:solidFill>
                  <a:srgbClr val="FFFFFF"/>
                </a:solidFill>
                <a:latin typeface="Calibri"/>
              </a:rPr>
              <a:t> và có khả năng điều chỉnh để phù hợp với các hệ thống truyền thông khác nhau, từ đó mang lại hiệu suất cao trong việc nén và giải mã tín hiệu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đã được ứng dụng rộng rãi trong nhiều lĩnh vực như viễn thông, điện tử, khoa học dữ liệu và tiếp tục là chủ đề nghiên cứu và phát triển trong cộng đồng khoa học</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