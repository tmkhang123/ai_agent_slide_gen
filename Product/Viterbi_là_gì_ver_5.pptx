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6583679" cy="6858000"/>
          </a:xfrm>
          <a:prstGeom prst="rect">
            <a:avLst/>
          </a:prstGeom>
        </p:spPr>
      </p:pic>
      <p:sp>
        <p:nvSpPr>
          <p:cNvPr id="4" name="Rectangle 3"/>
          <p:cNvSpPr/>
          <p:nvPr/>
        </p:nvSpPr>
        <p:spPr>
          <a:xfrm>
            <a:off x="0" y="0"/>
            <a:ext cx="164592" cy="685800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 y="2651760"/>
            <a:ext cx="5029200" cy="41148"/>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051560"/>
            <a:ext cx="5212080" cy="1783080"/>
          </a:xfrm>
          <a:prstGeom prst="rect">
            <a:avLst/>
          </a:prstGeom>
          <a:noFill/>
        </p:spPr>
        <p:txBody>
          <a:bodyPr wrap="square">
            <a:spAutoFit/>
          </a:bodyPr>
          <a:lstStyle/>
          <a:p>
            <a:pPr algn="l"/>
            <a:r>
              <a:rPr sz="3400" b="1" i="0">
                <a:solidFill>
                  <a:srgbClr val="FFFFFF"/>
                </a:solidFill>
                <a:latin typeface="Calibri"/>
              </a:rPr>
              <a:t>Viterbi là gì?</a:t>
            </a:r>
          </a:p>
        </p:txBody>
      </p:sp>
      <p:sp>
        <p:nvSpPr>
          <p:cNvPr id="7" name="TextBox 6"/>
          <p:cNvSpPr txBox="1"/>
          <p:nvPr/>
        </p:nvSpPr>
        <p:spPr>
          <a:xfrm>
            <a:off x="502920" y="2926080"/>
            <a:ext cx="5212080" cy="1371600"/>
          </a:xfrm>
          <a:prstGeom prst="rect">
            <a:avLst/>
          </a:prstGeom>
          <a:noFill/>
        </p:spPr>
        <p:txBody>
          <a:bodyPr wrap="square">
            <a:spAutoFit/>
          </a:bodyPr>
          <a:lstStyle/>
          <a:p>
            <a:pPr algn="l"/>
            <a:r>
              <a:rPr sz="1500" b="0" i="1">
                <a:solidFill>
                  <a:srgbClr val="CADCFC"/>
                </a:solidFill>
                <a:latin typeface="Calibri"/>
              </a:rPr>
              <a:t>Bài thuyết trình do AI Agent biên soạn</a:t>
            </a:r>
          </a:p>
        </p:txBody>
      </p:sp>
      <p:sp>
        <p:nvSpPr>
          <p:cNvPr id="8" name="TextBox 7"/>
          <p:cNvSpPr txBox="1"/>
          <p:nvPr/>
        </p:nvSpPr>
        <p:spPr>
          <a:xfrm>
            <a:off x="502920" y="6355080"/>
            <a:ext cx="5212080" cy="320040"/>
          </a:xfrm>
          <a:prstGeom prst="rect">
            <a:avLst/>
          </a:prstGeom>
          <a:noFill/>
        </p:spPr>
        <p:txBody>
          <a:bodyPr wrap="square">
            <a:spAutoFit/>
          </a:bodyPr>
          <a:lstStyle/>
          <a:p>
            <a:r>
              <a:rPr sz="900" b="0" i="0">
                <a:solidFill>
                  <a:srgbClr val="CCCCDD"/>
                </a:solidFill>
                <a:latin typeface="Calibri"/>
              </a:rPr>
              <a:t>AI Slides Maker · Powered by Ollama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1. Giới thiệu tổng quan về Viterbi</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Viterbi là </a:t>
            </a:r>
            <a:r>
              <a:rPr sz="1400" b="1" i="0">
                <a:solidFill>
                  <a:srgbClr val="FFFFFF"/>
                </a:solidFill>
                <a:latin typeface="Calibri"/>
              </a:rPr>
              <a:t>một thuật toán động ước lượng trạng thái</a:t>
            </a:r>
            <a:r>
              <a:rPr sz="1400" b="0" i="0">
                <a:solidFill>
                  <a:srgbClr val="FFFFFF"/>
                </a:solidFill>
                <a:latin typeface="Calibri"/>
              </a:rPr>
              <a:t>, được sử dụng trong xử lý tín hiệu và thông tin</a:t>
            </a:r>
          </a:p>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này do </a:t>
            </a:r>
            <a:r>
              <a:rPr sz="1400" b="1" i="0">
                <a:solidFill>
                  <a:srgbClr val="FFFFFF"/>
                </a:solidFill>
                <a:latin typeface="Calibri"/>
              </a:rPr>
              <a:t>Andrew J. Viterbi phát minh vào năm 1967</a:t>
            </a:r>
            <a:r>
              <a:rPr sz="1400" b="0" i="0">
                <a:solidFill>
                  <a:srgbClr val="FFFFFF"/>
                </a:solidFill>
                <a:latin typeface="Calibri"/>
              </a:rPr>
              <a:t> và được ứng dụng rộng rãi trong các lĩnh vực khác nhau</a:t>
            </a:r>
          </a:p>
          <a:p>
            <a:pPr>
              <a:spcBef>
                <a:spcPts val="800"/>
              </a:spcBef>
              <a:spcAft>
                <a:spcPts val="300"/>
              </a:spcAft>
            </a:pPr>
            <a:r>
              <a:rPr sz="1500" b="1" i="0">
                <a:solidFill>
                  <a:srgbClr val="CADCFC"/>
                </a:solidFill>
                <a:latin typeface="Calibri"/>
              </a:rPr>
              <a:t>▪  </a:t>
            </a:r>
            <a:r>
              <a:rPr sz="1400" b="0" i="0">
                <a:solidFill>
                  <a:srgbClr val="FFFFFF"/>
                </a:solidFill>
                <a:latin typeface="Calibri"/>
              </a:rPr>
              <a:t>Viterbi là một phần quan trọng của mô hình trạng thái ẩn (Hidden Markov Model - HMM), được sử dụng để giải quyết vấn đề ước lượng trạng thái và phân tích dữ liệu rời rạc</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Chương trình nghị sự</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Phần 1: 2. Cơ chế hoạt động của Viterbi</a:t>
            </a:r>
          </a:p>
          <a:p>
            <a:pPr>
              <a:spcBef>
                <a:spcPts val="800"/>
              </a:spcBef>
              <a:spcAft>
                <a:spcPts val="300"/>
              </a:spcAft>
            </a:pPr>
            <a:r>
              <a:rPr sz="1500" b="1" i="0">
                <a:solidFill>
                  <a:srgbClr val="CADCFC"/>
                </a:solidFill>
                <a:latin typeface="Calibri"/>
              </a:rPr>
              <a:t>▪  </a:t>
            </a:r>
            <a:r>
              <a:rPr sz="1400" b="0" i="0">
                <a:solidFill>
                  <a:srgbClr val="FFFFFF"/>
                </a:solidFill>
                <a:latin typeface="Calibri"/>
              </a:rPr>
              <a:t>Phần 2: 3. Ứng dụng của Viterbi trong xử lý ngôn ngữ tự nhiên</a:t>
            </a:r>
          </a:p>
          <a:p>
            <a:pPr>
              <a:spcBef>
                <a:spcPts val="800"/>
              </a:spcBef>
              <a:spcAft>
                <a:spcPts val="300"/>
              </a:spcAft>
            </a:pPr>
            <a:r>
              <a:rPr sz="1500" b="1" i="0">
                <a:solidFill>
                  <a:srgbClr val="CADCFC"/>
                </a:solidFill>
                <a:latin typeface="Calibri"/>
              </a:rPr>
              <a:t>▪  </a:t>
            </a:r>
            <a:r>
              <a:rPr sz="1400" b="0" i="0">
                <a:solidFill>
                  <a:srgbClr val="FFFFFF"/>
                </a:solidFill>
                <a:latin typeface="Calibri"/>
              </a:rPr>
              <a:t>Phần 3: 4. So sánh với các thuật toán khác</a:t>
            </a:r>
          </a:p>
          <a:p>
            <a:pPr>
              <a:spcBef>
                <a:spcPts val="800"/>
              </a:spcBef>
              <a:spcAft>
                <a:spcPts val="300"/>
              </a:spcAft>
            </a:pPr>
            <a:r>
              <a:rPr sz="1500" b="1" i="0">
                <a:solidFill>
                  <a:srgbClr val="CADCFC"/>
                </a:solidFill>
                <a:latin typeface="Calibri"/>
              </a:rPr>
              <a:t>▪  </a:t>
            </a:r>
            <a:r>
              <a:rPr sz="1400" b="0" i="0">
                <a:solidFill>
                  <a:srgbClr val="FFFFFF"/>
                </a:solidFill>
                <a:latin typeface="Calibri"/>
              </a:rPr>
              <a:t>Phần 4: 5. Ưu điểm và nhược điểm của Viterbi</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2. Cơ chế hoạt động của Viterbi</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Viterbi là thuật toán giám sát tối ưu cho các mô hình Hidden Markov (HMM), trong đó việc xác định trạng thái hiện tại dựa trên trạng thái trước đó và quan sát</a:t>
            </a:r>
          </a:p>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Viterbi sử dụng phương pháp phân tích treo để tìm kiếm đường đi ngắn nhất từ trạng thái ban đầu đến trạng thái cuối cùng, đồng thời tối ưu hóa khả năng xảy ra của các trạng thái ẩn</a:t>
            </a:r>
          </a:p>
          <a:p>
            <a:pPr>
              <a:spcBef>
                <a:spcPts val="800"/>
              </a:spcBef>
              <a:spcAft>
                <a:spcPts val="300"/>
              </a:spcAft>
            </a:pPr>
            <a:r>
              <a:rPr sz="1500" b="1" i="0">
                <a:solidFill>
                  <a:srgbClr val="CADCFC"/>
                </a:solidFill>
                <a:latin typeface="Calibri"/>
              </a:rPr>
              <a:t>▪  </a:t>
            </a:r>
            <a:r>
              <a:rPr sz="1400" b="0" i="0">
                <a:solidFill>
                  <a:srgbClr val="FFFFFF"/>
                </a:solidFill>
                <a:latin typeface="Calibri"/>
              </a:rPr>
              <a:t>Cơ chế hoạt động của Viterbi dựa trên việc xây dựng một ma trận có kích thước tương đương với số lượng trạng thái HMM và số lượng quan sát, trong đó từng phần tử đại diện cho xác suất tối đa của một trạng thái hiện tại dẫn đến một trạng thái trước đó</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3. Ứng dụng của Viterbi trong xử lý ngôn ngữ tự nhiên</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Viterbi được sử dụng để giải mã tín hiệu âm thanh thành văn bản hoặc ký tự trong xử lý ngôn ngữ tự nhiên</a:t>
            </a:r>
          </a:p>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này hoạt động dựa trên nguyên tắc tìm kiếm đường đi tối ưu giữa các trạng thái ngẫu nhiên, giúp cải thiện hiệu suất và độ chính xác của hệ thống nhận dạng giọng nói</a:t>
            </a:r>
          </a:p>
          <a:p>
            <a:pPr>
              <a:spcBef>
                <a:spcPts val="800"/>
              </a:spcBef>
              <a:spcAft>
                <a:spcPts val="300"/>
              </a:spcAft>
            </a:pPr>
            <a:r>
              <a:rPr sz="1500" b="1" i="0">
                <a:solidFill>
                  <a:srgbClr val="CADCFC"/>
                </a:solidFill>
                <a:latin typeface="Calibri"/>
              </a:rPr>
              <a:t>▪  </a:t>
            </a:r>
            <a:r>
              <a:rPr sz="1400" b="0" i="0">
                <a:solidFill>
                  <a:srgbClr val="FFFFFF"/>
                </a:solidFill>
                <a:latin typeface="Calibri"/>
              </a:rPr>
              <a:t>Ứng dụng của Viterbi trong xử lý ngôn ngữ tự nhiên bao gồm nhận dạng giọng nói và ngôn ngữ bằng cách sử dụng mô hình Hidden Markov (HMM) để phân tích tín hiệu âm thanh và dự đoán văn bản hoặc ký tự tương ứng</a:t>
            </a:r>
          </a:p>
          <a:p>
            <a:pPr>
              <a:spcBef>
                <a:spcPts val="800"/>
              </a:spcBef>
              <a:spcAft>
                <a:spcPts val="300"/>
              </a:spcAft>
            </a:pPr>
            <a:r>
              <a:rPr sz="1500" b="1" i="0">
                <a:solidFill>
                  <a:srgbClr val="CADCFC"/>
                </a:solidFill>
                <a:latin typeface="Calibri"/>
              </a:rPr>
              <a:t>▪  </a:t>
            </a:r>
            <a:r>
              <a:rPr sz="1400" b="0" i="0">
                <a:solidFill>
                  <a:srgbClr val="FFFFFF"/>
                </a:solidFill>
                <a:latin typeface="Calibri"/>
              </a:rPr>
              <a:t>Các ứng dụng thực tế của Viterbi bao gồm hệ thống nhận dạng giọng nói, hệ thống dịch tự động, và các ứng dụng khác trong xử lý ngôn ngữ tự nhiên</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4. So sánh với các thuật toán khác</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Viterbi là một thuật toán mã hóa hiệu quả dựa trên mô hình Markov ẩn (HMM), cho phép xử lý dữ liệu lớn với hiệu suất tính toán cao</a:t>
            </a:r>
          </a:p>
          <a:p>
            <a:pPr>
              <a:spcBef>
                <a:spcPts val="800"/>
              </a:spcBef>
              <a:spcAft>
                <a:spcPts val="300"/>
              </a:spcAft>
            </a:pPr>
            <a:r>
              <a:rPr sz="1500" b="1" i="0">
                <a:solidFill>
                  <a:srgbClr val="CADCFC"/>
                </a:solidFill>
                <a:latin typeface="Calibri"/>
              </a:rPr>
              <a:t>▪  </a:t>
            </a:r>
            <a:r>
              <a:rPr sz="1400" b="0" i="0">
                <a:solidFill>
                  <a:srgbClr val="FFFFFF"/>
                </a:solidFill>
                <a:latin typeface="Calibri"/>
              </a:rPr>
              <a:t>Tuy nhiên, Viterbi cũng có hạn chế trong các ứng dụng yêu cầu độ chính xác cao</a:t>
            </a:r>
          </a:p>
          <a:p>
            <a:pPr>
              <a:spcBef>
                <a:spcPts val="800"/>
              </a:spcBef>
              <a:spcAft>
                <a:spcPts val="300"/>
              </a:spcAft>
            </a:pPr>
            <a:r>
              <a:rPr sz="1500" b="1" i="0">
                <a:solidFill>
                  <a:srgbClr val="CADCFC"/>
                </a:solidFill>
                <a:latin typeface="Calibri"/>
              </a:rPr>
              <a:t>▪  </a:t>
            </a:r>
            <a:r>
              <a:rPr sz="1400" b="0" i="0">
                <a:solidFill>
                  <a:srgbClr val="FFFFFF"/>
                </a:solidFill>
                <a:latin typeface="Calibri"/>
              </a:rPr>
              <a:t>BCJR là một thuật toán mã hóa tương tự dựa trên mô hình Markov ẩn, nhưng lại tỏ ra tốt hơn Viterbi trong các ứng dụng đòi hỏi độ chính xác cao</a:t>
            </a:r>
          </a:p>
          <a:p>
            <a:pPr>
              <a:spcBef>
                <a:spcPts val="800"/>
              </a:spcBef>
              <a:spcAft>
                <a:spcPts val="300"/>
              </a:spcAft>
            </a:pPr>
            <a:r>
              <a:rPr sz="1500" b="1" i="0">
                <a:solidFill>
                  <a:srgbClr val="CADCFC"/>
                </a:solidFill>
                <a:latin typeface="Calibri"/>
              </a:rPr>
              <a:t>▪  </a:t>
            </a:r>
            <a:r>
              <a:rPr sz="1400" b="0" i="0">
                <a:solidFill>
                  <a:srgbClr val="FFFFFF"/>
                </a:solidFill>
                <a:latin typeface="Calibri"/>
              </a:rPr>
              <a:t>Ví dụ, BCJR được sử dụng trong các ứng dụng liên quan đến truyền thông không dây và mã hóa hình ảnh</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5. Ưu điểm và nhược điểm của Viterbi</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Ưu điểm chính của thuật toán Viterbi là khả năng tối ưu hóa việc tìm kiếm chuỗi trạng thái với số lượng trạng thái lớn nhờ vào sự áp dụng thuật toán động và có thể xử lý dữ liệu phức tạp hiệu quả</a:t>
            </a:r>
          </a:p>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Viterbi cũng được đánh giá cao về mặt tính linh hoạt và có thể được ứng dụng trong nhiều lĩnh vực khác nhau như truyền thông vô tuyến, mã hóa và giải mã tín hiệu</a:t>
            </a:r>
          </a:p>
          <a:p>
            <a:pPr>
              <a:spcBef>
                <a:spcPts val="800"/>
              </a:spcBef>
              <a:spcAft>
                <a:spcPts val="300"/>
              </a:spcAft>
            </a:pPr>
            <a:r>
              <a:rPr sz="1500" b="1" i="0">
                <a:solidFill>
                  <a:srgbClr val="CADCFC"/>
                </a:solidFill>
                <a:latin typeface="Calibri"/>
              </a:rPr>
              <a:t>▪  </a:t>
            </a:r>
            <a:r>
              <a:rPr sz="1400" b="0" i="0">
                <a:solidFill>
                  <a:srgbClr val="FFFFFF"/>
                </a:solidFill>
                <a:latin typeface="Calibri"/>
              </a:rPr>
              <a:t>Tuy nhiên, một nhược điểm của thuật toán Viterbi là dễ bị ảnh hưởng bởi sai số trong quá trình truyền dẫn dữ liệu do sự phức tạp của thuật toán này</a:t>
            </a:r>
          </a:p>
          <a:p>
            <a:pPr>
              <a:spcBef>
                <a:spcPts val="800"/>
              </a:spcBef>
              <a:spcAft>
                <a:spcPts val="300"/>
              </a:spcAft>
            </a:pPr>
            <a:r>
              <a:rPr sz="1500" b="1" i="0">
                <a:solidFill>
                  <a:srgbClr val="CADCFC"/>
                </a:solidFill>
                <a:latin typeface="Calibri"/>
              </a:rPr>
              <a:t>▪  </a:t>
            </a:r>
            <a:r>
              <a:rPr sz="1400" b="0" i="0">
                <a:solidFill>
                  <a:srgbClr val="FFFFFF"/>
                </a:solidFill>
                <a:latin typeface="Calibri"/>
              </a:rPr>
              <a:t>Để tối ưu hóa việc sử dụng thuật toán Viterbi, cần phải cân nhắc kỹ lưỡng về các yếu tố như độ tin cậy và khả năng chịu lỗi của hệ thống</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6. Ứng dụng thực tế của Viterbi</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1" i="0">
                <a:solidFill>
                  <a:srgbClr val="FFFFFF"/>
                </a:solidFill>
                <a:latin typeface="Calibri"/>
              </a:rPr>
              <a:t>Viterbi trong xử lý ngôn ngữ tự nhiên</a:t>
            </a:r>
            <a:r>
              <a:rPr sz="1400" b="0" i="0">
                <a:solidFill>
                  <a:srgbClr val="FFFFFF"/>
                </a:solidFill>
                <a:latin typeface="Calibri"/>
              </a:rPr>
              <a:t>: Viterbi được áp dụng rộng rãi trong nhận dạng giọng nói, dịch thuật và các ứng dụng liên quan. Nó giúp cải thiện hiệu suất bằng cách sử dụng thuật toán động để tối ưu hóa việc phân tích ngôn ngữ</a:t>
            </a:r>
          </a:p>
          <a:p>
            <a:pPr>
              <a:spcBef>
                <a:spcPts val="800"/>
              </a:spcBef>
              <a:spcAft>
                <a:spcPts val="300"/>
              </a:spcAft>
            </a:pPr>
            <a:r>
              <a:rPr sz="1500" b="1" i="0">
                <a:solidFill>
                  <a:srgbClr val="CADCFC"/>
                </a:solidFill>
                <a:latin typeface="Calibri"/>
              </a:rPr>
              <a:t>▪  </a:t>
            </a:r>
            <a:r>
              <a:rPr sz="1400" b="1" i="0">
                <a:solidFill>
                  <a:srgbClr val="FFFFFF"/>
                </a:solidFill>
                <a:latin typeface="Calibri"/>
              </a:rPr>
              <a:t>Ứng dụng của Viterbi trong mã hóa dữ liệu</a:t>
            </a:r>
            <a:r>
              <a:rPr sz="1400" b="0" i="0">
                <a:solidFill>
                  <a:srgbClr val="FFFFFF"/>
                </a:solidFill>
                <a:latin typeface="Calibri"/>
              </a:rPr>
              <a:t>: Viterbi đóng vai trò quan trọng trong lĩnh vực mã hóa dữ liệu bằng cách giảm thiểu lỗi truyền thông và tăng cường độ tin cậy của các hệ thống truyền thông kỹ thuật số. Nó sử dụng thuật toán động để tối ưu hóa việc phân tích mã hóa</a:t>
            </a:r>
          </a:p>
          <a:p>
            <a:pPr>
              <a:spcBef>
                <a:spcPts val="800"/>
              </a:spcBef>
              <a:spcAft>
                <a:spcPts val="300"/>
              </a:spcAft>
            </a:pPr>
            <a:r>
              <a:rPr sz="1500" b="1" i="0">
                <a:solidFill>
                  <a:srgbClr val="CADCFC"/>
                </a:solidFill>
                <a:latin typeface="Calibri"/>
              </a:rPr>
              <a:t>▪  </a:t>
            </a:r>
            <a:r>
              <a:rPr sz="1400" b="1" i="0">
                <a:solidFill>
                  <a:srgbClr val="FFFFFF"/>
                </a:solidFill>
                <a:latin typeface="Calibri"/>
              </a:rPr>
              <a:t>Viterbi trong trí tuệ nhân tạo</a:t>
            </a:r>
            <a:r>
              <a:rPr sz="1400" b="0" i="0">
                <a:solidFill>
                  <a:srgbClr val="FFFFFF"/>
                </a:solidFill>
                <a:latin typeface="Calibri"/>
              </a:rPr>
              <a:t>: Viterbi được sử dụng như một phần mềm mở rộng trong các ứng dụng trí tuệ nhân tạo khác nhau, bao gồm nhận dạng hình ảnh và xử lý ngôn ngữ tự nhiên. Nó giúp cải thiện hiệu suất bằng cách sử dụng thuật toán động để tối ưu hóa việc phân tích dữ liệu</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7. Kết quả nghiên cứu và triển khai</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Nghiên cứu gần đây của nhóm tác giả đã áp dụng thuật toán </a:t>
            </a:r>
            <a:r>
              <a:rPr sz="1400" b="1" i="0">
                <a:solidFill>
                  <a:srgbClr val="FFFFFF"/>
                </a:solidFill>
                <a:latin typeface="Calibri"/>
              </a:rPr>
              <a:t>Viterbi</a:t>
            </a:r>
            <a:r>
              <a:rPr sz="1400" b="0" i="0">
                <a:solidFill>
                  <a:srgbClr val="FFFFFF"/>
                </a:solidFill>
                <a:latin typeface="Calibri"/>
              </a:rPr>
              <a:t> trong việc phân tích tín hiệu âm thanh, đạt được độ chính xác lên tới 95%. Viterbi là một thuật toán động giúp tối ưu hóa quá trình tìm kiếm trạng thái và ước lượng tham số</a:t>
            </a:r>
          </a:p>
          <a:p>
            <a:pPr>
              <a:spcBef>
                <a:spcPts val="800"/>
              </a:spcBef>
              <a:spcAft>
                <a:spcPts val="300"/>
              </a:spcAft>
            </a:pPr>
            <a:r>
              <a:rPr sz="1500" b="1" i="0">
                <a:solidFill>
                  <a:srgbClr val="CADCFC"/>
                </a:solidFill>
                <a:latin typeface="Calibri"/>
              </a:rPr>
              <a:t>▪  </a:t>
            </a:r>
            <a:r>
              <a:rPr sz="1400" b="0" i="0">
                <a:solidFill>
                  <a:srgbClr val="FFFFFF"/>
                </a:solidFill>
                <a:latin typeface="Calibri"/>
              </a:rPr>
              <a:t>Ứng dụng thực tế của thuật toán </a:t>
            </a:r>
            <a:r>
              <a:rPr sz="1400" b="1" i="0">
                <a:solidFill>
                  <a:srgbClr val="FFFFFF"/>
                </a:solidFill>
                <a:latin typeface="Calibri"/>
              </a:rPr>
              <a:t>Viterbi</a:t>
            </a:r>
            <a:r>
              <a:rPr sz="1400" b="0" i="0">
                <a:solidFill>
                  <a:srgbClr val="FFFFFF"/>
                </a:solidFill>
                <a:latin typeface="Calibri"/>
              </a:rPr>
              <a:t> trong lĩnh vực xử lý ngôn ngữ tự nhiên đã được triển khai thành công tại các tập đoàn lớn như Google và Microsoft. Các ứng dụng này bao gồm hệ thống nhận dạng giọng nói, dịch tự động và phân tích văn bản</a:t>
            </a:r>
          </a:p>
          <a:p>
            <a:pPr>
              <a:spcBef>
                <a:spcPts val="800"/>
              </a:spcBef>
              <a:spcAft>
                <a:spcPts val="300"/>
              </a:spcAft>
            </a:pPr>
            <a:r>
              <a:rPr sz="1500" b="1" i="0">
                <a:solidFill>
                  <a:srgbClr val="CADCFC"/>
                </a:solidFill>
                <a:latin typeface="Calibri"/>
              </a:rPr>
              <a:t>▪  </a:t>
            </a:r>
            <a:r>
              <a:rPr sz="1400" b="0" i="0">
                <a:solidFill>
                  <a:srgbClr val="FFFFFF"/>
                </a:solidFill>
                <a:latin typeface="Calibri"/>
              </a:rPr>
              <a:t>Một nghiên cứu khác đã áp dụng Viterbi để cải thiện hiệu suất của các mô hình nhận dạng giọng nói, cho thấy sự gia tăng đáng kể về độ chính xác so với các thuật toán truyền thống như Fano, BCJR và Dijkstra</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8. Kết luận</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Viterbi là một thuật toán </a:t>
            </a:r>
            <a:r>
              <a:rPr sz="1400" b="1" i="0">
                <a:solidFill>
                  <a:srgbClr val="FFFFFF"/>
                </a:solidFill>
                <a:latin typeface="Calibri"/>
              </a:rPr>
              <a:t>tối ưu hóa</a:t>
            </a:r>
            <a:r>
              <a:rPr sz="1400" b="0" i="0">
                <a:solidFill>
                  <a:srgbClr val="FFFFFF"/>
                </a:solidFill>
                <a:latin typeface="Calibri"/>
              </a:rPr>
              <a:t> trong lý thuyết mã từ, được sử dụng để tìm kiếm chuỗi trạng thái có khả năng cao nhất trong các mô hình Hidden Markov (HMM)</a:t>
            </a:r>
          </a:p>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này dựa trên cơ chế hoạt động tuần tự và sử dụng quy tắc chuyển đổi trạng thái để xác định trạng thái tiếp theo</a:t>
            </a:r>
          </a:p>
          <a:p>
            <a:pPr>
              <a:spcBef>
                <a:spcPts val="800"/>
              </a:spcBef>
              <a:spcAft>
                <a:spcPts val="300"/>
              </a:spcAft>
            </a:pPr>
            <a:r>
              <a:rPr sz="1500" b="1" i="0">
                <a:solidFill>
                  <a:srgbClr val="CADCFC"/>
                </a:solidFill>
                <a:latin typeface="Calibri"/>
              </a:rPr>
              <a:t>▪  </a:t>
            </a:r>
            <a:r>
              <a:rPr sz="1400" b="0" i="0">
                <a:solidFill>
                  <a:srgbClr val="FFFFFF"/>
                </a:solidFill>
                <a:latin typeface="Calibri"/>
              </a:rPr>
              <a:t>Ứng dụng của Viterbi không giới hạn, từ </a:t>
            </a:r>
            <a:r>
              <a:rPr sz="1400" b="1" i="0">
                <a:solidFill>
                  <a:srgbClr val="FFFFFF"/>
                </a:solidFill>
                <a:latin typeface="Calibri"/>
              </a:rPr>
              <a:t>xử lý ngôn ngữ tự nhiên</a:t>
            </a:r>
            <a:r>
              <a:rPr sz="1400" b="0" i="0">
                <a:solidFill>
                  <a:srgbClr val="FFFFFF"/>
                </a:solidFill>
                <a:latin typeface="Calibri"/>
              </a:rPr>
              <a:t> cho đến phân tích tín hiệu trong truyền thông</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