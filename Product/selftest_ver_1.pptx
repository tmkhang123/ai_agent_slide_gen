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7472" y="2651760"/>
            <a:ext cx="5029200" cy="41148"/>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51560"/>
            <a:ext cx="5212080" cy="1783080"/>
          </a:xfrm>
          <a:prstGeom prst="rect">
            <a:avLst/>
          </a:prstGeom>
          <a:noFill/>
        </p:spPr>
        <p:txBody>
          <a:bodyPr wrap="square">
            <a:spAutoFit/>
          </a:bodyPr>
          <a:lstStyle/>
          <a:p>
            <a:pPr algn="l"/>
            <a:r>
              <a:rPr sz="3400" b="1" i="0">
                <a:solidFill>
                  <a:srgbClr val="FFFFFF"/>
                </a:solidFill>
                <a:latin typeface="Calibri"/>
              </a:rPr>
              <a:t>Chủ đề kiểm thử</a:t>
            </a:r>
          </a:p>
        </p:txBody>
      </p:sp>
      <p:sp>
        <p:nvSpPr>
          <p:cNvPr id="5" name="TextBox 4"/>
          <p:cNvSpPr txBox="1"/>
          <p:nvPr/>
        </p:nvSpPr>
        <p:spPr>
          <a:xfrm>
            <a:off x="502920" y="2926080"/>
            <a:ext cx="5212080" cy="1371600"/>
          </a:xfrm>
          <a:prstGeom prst="rect">
            <a:avLst/>
          </a:prstGeom>
          <a:noFill/>
        </p:spPr>
        <p:txBody>
          <a:bodyPr wrap="square">
            <a:spAutoFit/>
          </a:bodyPr>
          <a:lstStyle/>
          <a:p>
            <a:pPr algn="l"/>
            <a:r>
              <a:rPr sz="1500" b="0" i="1">
                <a:solidFill>
                  <a:srgbClr val="CADCFC"/>
                </a:solidFill>
                <a:latin typeface="Calibri"/>
              </a:rPr>
              <a:t>Bài thuyết trình do AI Agent biên soạn</a:t>
            </a:r>
          </a:p>
        </p:txBody>
      </p:sp>
      <p:sp>
        <p:nvSpPr>
          <p:cNvPr id="6" name="TextBox 5"/>
          <p:cNvSpPr txBox="1"/>
          <p:nvPr/>
        </p:nvSpPr>
        <p:spPr>
          <a:xfrm>
            <a:off x="502920" y="6355080"/>
            <a:ext cx="5212080" cy="320040"/>
          </a:xfrm>
          <a:prstGeom prst="rect">
            <a:avLst/>
          </a:prstGeom>
          <a:noFill/>
        </p:spPr>
        <p:txBody>
          <a:bodyPr wrap="square">
            <a:spAutoFit/>
          </a:bodyPr>
          <a:lstStyle/>
          <a:p>
            <a:r>
              <a:rPr sz="900" b="0" i="0">
                <a:solidFill>
                  <a:srgbClr val="CCCCDD"/>
                </a:solidFill>
                <a:latin typeface="Calibri"/>
              </a:rPr>
              <a:t>AI Slides Maker · Powered by Ollama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Giới thiệu về Chủ đề kiểm thử</a:t>
            </a:r>
          </a:p>
        </p:txBody>
      </p:sp>
      <p:sp>
        <p:nvSpPr>
          <p:cNvPr id="5" name="TextBox 4"/>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Định nghĩa, bối cảnh và tầm quan trọng của chủ đề. Đây là nội dung quan trọng cần được phân tích kỹ để người nghe nắm được bản chất và ý nghĩa của vấn đề trong bối cảnh hiện nay.</a:t>
            </a:r>
          </a:p>
          <a:p>
            <a:pPr>
              <a:spcBef>
                <a:spcPts val="800"/>
              </a:spcBef>
              <a:spcAft>
                <a:spcPts val="300"/>
              </a:spcAft>
            </a:pPr>
            <a:r>
              <a:rPr sz="1500" b="0" i="0">
                <a:solidFill>
                  <a:srgbClr val="FFFFFF"/>
                </a:solidFill>
                <a:latin typeface="Calibri"/>
              </a:rPr>
              <a:t>▪  Xét trên nhiều khía cạnh, 'Giới thiệu về Chủ đề kiểm thử' cho thấy những điểm đáng chú ý, đòi hỏi cách tiếp cận hệ thống và liên hệ với thực tiễn cụ thể.</a:t>
            </a:r>
          </a:p>
          <a:p>
            <a:pPr>
              <a:spcBef>
                <a:spcPts val="800"/>
              </a:spcBef>
              <a:spcAft>
                <a:spcPts val="300"/>
              </a:spcAft>
            </a:pPr>
            <a:r>
              <a:rPr sz="1500" b="0" i="0">
                <a:solidFill>
                  <a:srgbClr val="FFFFFF"/>
                </a:solidFill>
                <a:latin typeface="Calibri"/>
              </a:rPr>
              <a:t>▪  Cuối cùng, cần kết nối nội dung này với mục tiêu chung của bài thuyết trình nhằm bảo đảm tính mạch lạc, logic và sức thuyết phục.</a:t>
            </a:r>
          </a:p>
        </p:txBody>
      </p:sp>
      <p:sp>
        <p:nvSpPr>
          <p:cNvPr id="6" name="TextBox 5"/>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Giới thiệu về Chủ đề kiểm thử</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Bối cảnh và xu hướng</a:t>
            </a:r>
          </a:p>
        </p:txBody>
      </p:sp>
      <p:sp>
        <p:nvSpPr>
          <p:cNvPr id="5" name="TextBox 4"/>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Trình bày rõ về: Bối cảnh và xu hướng Đây là nội dung quan trọng cần được phân tích kỹ để người nghe nắm được bản chất và ý nghĩa của vấn đề trong bối cảnh hiện nay.</a:t>
            </a:r>
          </a:p>
          <a:p>
            <a:pPr>
              <a:spcBef>
                <a:spcPts val="800"/>
              </a:spcBef>
              <a:spcAft>
                <a:spcPts val="300"/>
              </a:spcAft>
            </a:pPr>
            <a:r>
              <a:rPr sz="1500" b="0" i="0">
                <a:solidFill>
                  <a:srgbClr val="FFFFFF"/>
                </a:solidFill>
                <a:latin typeface="Calibri"/>
              </a:rPr>
              <a:t>▪  Xét trên nhiều khía cạnh, 'Bối cảnh và xu hướng' cho thấy những điểm đáng chú ý, đòi hỏi cách tiếp cận hệ thống và liên hệ với thực tiễn cụ thể.</a:t>
            </a:r>
          </a:p>
          <a:p>
            <a:pPr>
              <a:spcBef>
                <a:spcPts val="800"/>
              </a:spcBef>
              <a:spcAft>
                <a:spcPts val="300"/>
              </a:spcAft>
            </a:pPr>
            <a:r>
              <a:rPr sz="1500" b="0" i="0">
                <a:solidFill>
                  <a:srgbClr val="FFFFFF"/>
                </a:solidFill>
                <a:latin typeface="Calibri"/>
              </a:rPr>
              <a:t>▪  Cuối cùng, cần kết nối nội dung này với mục tiêu chung của bài thuyết trình nhằm bảo đảm tính mạch lạc, logic và sức thuyết phục.</a:t>
            </a:r>
          </a:p>
        </p:txBody>
      </p:sp>
      <p:sp>
        <p:nvSpPr>
          <p:cNvPr id="6" name="TextBox 5"/>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Bối cảnh và xu hướng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Phân tích chi tiết</a:t>
            </a:r>
          </a:p>
        </p:txBody>
      </p:sp>
      <p:sp>
        <p:nvSpPr>
          <p:cNvPr id="5" name="TextBox 4"/>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Trình bày rõ về: Phân tích chi tiết Đây là nội dung quan trọng cần được phân tích kỹ để người nghe nắm được bản chất và ý nghĩa của vấn đề trong bối cảnh hiện nay.</a:t>
            </a:r>
          </a:p>
          <a:p>
            <a:pPr>
              <a:spcBef>
                <a:spcPts val="800"/>
              </a:spcBef>
              <a:spcAft>
                <a:spcPts val="300"/>
              </a:spcAft>
            </a:pPr>
            <a:r>
              <a:rPr sz="1500" b="0" i="0">
                <a:solidFill>
                  <a:srgbClr val="FFFFFF"/>
                </a:solidFill>
                <a:latin typeface="Calibri"/>
              </a:rPr>
              <a:t>▪  Xét trên nhiều khía cạnh, 'Phân tích chi tiết' cho thấy những điểm đáng chú ý, đòi hỏi cách tiếp cận hệ thống và liên hệ với thực tiễn cụ thể.</a:t>
            </a:r>
          </a:p>
          <a:p>
            <a:pPr>
              <a:spcBef>
                <a:spcPts val="800"/>
              </a:spcBef>
              <a:spcAft>
                <a:spcPts val="300"/>
              </a:spcAft>
            </a:pPr>
            <a:r>
              <a:rPr sz="1500" b="0" i="0">
                <a:solidFill>
                  <a:srgbClr val="FFFFFF"/>
                </a:solidFill>
                <a:latin typeface="Calibri"/>
              </a:rPr>
              <a:t>▪  Cuối cùng, cần kết nối nội dung này với mục tiêu chung của bài thuyết trình nhằm bảo đảm tính mạch lạc, logic và sức thuyết phục.</a:t>
            </a:r>
          </a:p>
        </p:txBody>
      </p:sp>
      <p:sp>
        <p:nvSpPr>
          <p:cNvPr id="6" name="TextBox 5"/>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Phân tích chi tiết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Ứng dụng thực tế</a:t>
            </a:r>
          </a:p>
        </p:txBody>
      </p:sp>
      <p:sp>
        <p:nvSpPr>
          <p:cNvPr id="5" name="TextBox 4"/>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Trình bày rõ về: Ứng dụng thực tế Đây là nội dung quan trọng cần được phân tích kỹ để người nghe nắm được bản chất và ý nghĩa của vấn đề trong bối cảnh hiện nay.</a:t>
            </a:r>
          </a:p>
          <a:p>
            <a:pPr>
              <a:spcBef>
                <a:spcPts val="800"/>
              </a:spcBef>
              <a:spcAft>
                <a:spcPts val="300"/>
              </a:spcAft>
            </a:pPr>
            <a:r>
              <a:rPr sz="1500" b="0" i="0">
                <a:solidFill>
                  <a:srgbClr val="FFFFFF"/>
                </a:solidFill>
                <a:latin typeface="Calibri"/>
              </a:rPr>
              <a:t>▪  Xét trên nhiều khía cạnh, 'Ứng dụng thực tế' cho thấy những điểm đáng chú ý, đòi hỏi cách tiếp cận hệ thống và liên hệ với thực tiễn cụ thể.</a:t>
            </a:r>
          </a:p>
          <a:p>
            <a:pPr>
              <a:spcBef>
                <a:spcPts val="800"/>
              </a:spcBef>
              <a:spcAft>
                <a:spcPts val="300"/>
              </a:spcAft>
            </a:pPr>
            <a:r>
              <a:rPr sz="1500" b="0" i="0">
                <a:solidFill>
                  <a:srgbClr val="FFFFFF"/>
                </a:solidFill>
                <a:latin typeface="Calibri"/>
              </a:rPr>
              <a:t>▪  Cuối cùng, cần kết nối nội dung này với mục tiêu chung của bài thuyết trình nhằm bảo đảm tính mạch lạc, logic và sức thuyết phục.</a:t>
            </a:r>
          </a:p>
        </p:txBody>
      </p:sp>
      <p:sp>
        <p:nvSpPr>
          <p:cNvPr id="6" name="TextBox 5"/>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Ứng dụng thực tế</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Lợi ích và giá trị mang lại</a:t>
            </a:r>
          </a:p>
        </p:txBody>
      </p:sp>
      <p:sp>
        <p:nvSpPr>
          <p:cNvPr id="5" name="TextBox 4"/>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Trình bày rõ về: Lợi ích và giá trị mang lại Đây là nội dung quan trọng cần được phân tích kỹ để người nghe nắm được bản chất và ý nghĩa của vấn đề trong bối cảnh hiện nay.</a:t>
            </a:r>
          </a:p>
          <a:p>
            <a:pPr>
              <a:spcBef>
                <a:spcPts val="800"/>
              </a:spcBef>
              <a:spcAft>
                <a:spcPts val="300"/>
              </a:spcAft>
            </a:pPr>
            <a:r>
              <a:rPr sz="1500" b="0" i="0">
                <a:solidFill>
                  <a:srgbClr val="FFFFFF"/>
                </a:solidFill>
                <a:latin typeface="Calibri"/>
              </a:rPr>
              <a:t>▪  Xét trên nhiều khía cạnh, 'Lợi ích và giá trị mang lại' cho thấy những điểm đáng chú ý, đòi hỏi cách tiếp cận hệ thống và liên hệ với thực tiễn cụ thể.</a:t>
            </a:r>
          </a:p>
          <a:p>
            <a:pPr>
              <a:spcBef>
                <a:spcPts val="800"/>
              </a:spcBef>
              <a:spcAft>
                <a:spcPts val="300"/>
              </a:spcAft>
            </a:pPr>
            <a:r>
              <a:rPr sz="1500" b="0" i="0">
                <a:solidFill>
                  <a:srgbClr val="FFFFFF"/>
                </a:solidFill>
                <a:latin typeface="Calibri"/>
              </a:rPr>
              <a:t>▪  Cuối cùng, cần kết nối nội dung này với mục tiêu chung của bài thuyết trình nhằm bảo đảm tính mạch lạc, logic và sức thuyết phục.</a:t>
            </a:r>
          </a:p>
        </p:txBody>
      </p:sp>
      <p:sp>
        <p:nvSpPr>
          <p:cNvPr id="6" name="TextBox 5"/>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Lợi ích và giá trị mang lại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Thách thức và giải pháp</a:t>
            </a:r>
          </a:p>
        </p:txBody>
      </p:sp>
      <p:sp>
        <p:nvSpPr>
          <p:cNvPr id="5" name="TextBox 4"/>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Trình bày rõ về: Thách thức và giải pháp Đây là nội dung quan trọng cần được phân tích kỹ để người nghe nắm được bản chất và ý nghĩa của vấn đề trong bối cảnh hiện nay.</a:t>
            </a:r>
          </a:p>
          <a:p>
            <a:pPr>
              <a:spcBef>
                <a:spcPts val="800"/>
              </a:spcBef>
              <a:spcAft>
                <a:spcPts val="300"/>
              </a:spcAft>
            </a:pPr>
            <a:r>
              <a:rPr sz="1500" b="0" i="0">
                <a:solidFill>
                  <a:srgbClr val="FFFFFF"/>
                </a:solidFill>
                <a:latin typeface="Calibri"/>
              </a:rPr>
              <a:t>▪  Xét trên nhiều khía cạnh, 'Thách thức và giải pháp' cho thấy những điểm đáng chú ý, đòi hỏi cách tiếp cận hệ thống và liên hệ với thực tiễn cụ thể.</a:t>
            </a:r>
          </a:p>
          <a:p>
            <a:pPr>
              <a:spcBef>
                <a:spcPts val="800"/>
              </a:spcBef>
              <a:spcAft>
                <a:spcPts val="300"/>
              </a:spcAft>
            </a:pPr>
            <a:r>
              <a:rPr sz="1500" b="0" i="0">
                <a:solidFill>
                  <a:srgbClr val="FFFFFF"/>
                </a:solidFill>
                <a:latin typeface="Calibri"/>
              </a:rPr>
              <a:t>▪  Cuối cùng, cần kết nối nội dung này với mục tiêu chung của bài thuyết trình nhằm bảo đảm tính mạch lạc, logic và sức thuyết phục.</a:t>
            </a:r>
          </a:p>
        </p:txBody>
      </p:sp>
      <p:sp>
        <p:nvSpPr>
          <p:cNvPr id="6" name="TextBox 5"/>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Thách thức và giải pháp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Bài học và khuyến nghị</a:t>
            </a:r>
          </a:p>
        </p:txBody>
      </p:sp>
      <p:sp>
        <p:nvSpPr>
          <p:cNvPr id="5" name="TextBox 4"/>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Trình bày rõ về: Bài học và khuyến nghị Đây là nội dung quan trọng cần được phân tích kỹ để người nghe nắm được bản chất và ý nghĩa của vấn đề trong bối cảnh hiện nay.</a:t>
            </a:r>
          </a:p>
          <a:p>
            <a:pPr>
              <a:spcBef>
                <a:spcPts val="800"/>
              </a:spcBef>
              <a:spcAft>
                <a:spcPts val="300"/>
              </a:spcAft>
            </a:pPr>
            <a:r>
              <a:rPr sz="1500" b="0" i="0">
                <a:solidFill>
                  <a:srgbClr val="FFFFFF"/>
                </a:solidFill>
                <a:latin typeface="Calibri"/>
              </a:rPr>
              <a:t>▪  Xét trên nhiều khía cạnh, 'Bài học và khuyến nghị' cho thấy những điểm đáng chú ý, đòi hỏi cách tiếp cận hệ thống và liên hệ với thực tiễn cụ thể.</a:t>
            </a:r>
          </a:p>
          <a:p>
            <a:pPr>
              <a:spcBef>
                <a:spcPts val="800"/>
              </a:spcBef>
              <a:spcAft>
                <a:spcPts val="300"/>
              </a:spcAft>
            </a:pPr>
            <a:r>
              <a:rPr sz="1500" b="0" i="0">
                <a:solidFill>
                  <a:srgbClr val="FFFFFF"/>
                </a:solidFill>
                <a:latin typeface="Calibri"/>
              </a:rPr>
              <a:t>▪  Cuối cùng, cần kết nối nội dung này với mục tiêu chung của bài thuyết trình nhằm bảo đảm tính mạch lạc, logic và sức thuyết phục.</a:t>
            </a:r>
          </a:p>
        </p:txBody>
      </p:sp>
      <p:sp>
        <p:nvSpPr>
          <p:cNvPr id="6" name="TextBox 5"/>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Bài học và khuyến nghị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Kết luận và Hỏi đáp</a:t>
            </a:r>
          </a:p>
        </p:txBody>
      </p:sp>
      <p:sp>
        <p:nvSpPr>
          <p:cNvPr id="5" name="TextBox 4"/>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Tóm tắt ý chính và định hướng tương lai. Đây là nội dung quan trọng cần được phân tích kỹ để người nghe nắm được bản chất và ý nghĩa của vấn đề trong bối cảnh hiện nay.</a:t>
            </a:r>
          </a:p>
          <a:p>
            <a:pPr>
              <a:spcBef>
                <a:spcPts val="800"/>
              </a:spcBef>
              <a:spcAft>
                <a:spcPts val="300"/>
              </a:spcAft>
            </a:pPr>
            <a:r>
              <a:rPr sz="1500" b="0" i="0">
                <a:solidFill>
                  <a:srgbClr val="FFFFFF"/>
                </a:solidFill>
                <a:latin typeface="Calibri"/>
              </a:rPr>
              <a:t>▪  Xét trên nhiều khía cạnh, 'Kết luận và Hỏi đáp' cho thấy những điểm đáng chú ý, đòi hỏi cách tiếp cận hệ thống và liên hệ với thực tiễn cụ thể.</a:t>
            </a:r>
          </a:p>
          <a:p>
            <a:pPr>
              <a:spcBef>
                <a:spcPts val="800"/>
              </a:spcBef>
              <a:spcAft>
                <a:spcPts val="300"/>
              </a:spcAft>
            </a:pPr>
            <a:r>
              <a:rPr sz="1500" b="0" i="0">
                <a:solidFill>
                  <a:srgbClr val="FFFFFF"/>
                </a:solidFill>
                <a:latin typeface="Calibri"/>
              </a:rPr>
              <a:t>▪  Cuối cùng, cần kết nối nội dung này với mục tiêu chung của bài thuyết trình nhằm bảo đảm tính mạch lạc, logic và sức thuyết phục.</a:t>
            </a:r>
          </a:p>
        </p:txBody>
      </p:sp>
      <p:sp>
        <p:nvSpPr>
          <p:cNvPr id="6" name="TextBox 5"/>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Kết luận và Hỏi đáp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