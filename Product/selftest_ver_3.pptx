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Chủ đề kiểm thử</a:t>
            </a:r>
          </a:p>
        </p:txBody>
      </p:sp>
      <p:sp>
        <p:nvSpPr>
          <p:cNvPr id="5" name="TextBox 4"/>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6" name="TextBox 5"/>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Nội dung chương trình</a:t>
            </a:r>
          </a:p>
        </p:txBody>
      </p:sp>
      <p:sp>
        <p:nvSpPr>
          <p:cNvPr id="5" name="TextBox 4"/>
          <p:cNvSpPr txBox="1"/>
          <p:nvPr/>
        </p:nvSpPr>
        <p:spPr>
          <a:xfrm>
            <a:off x="731520" y="1243584"/>
            <a:ext cx="7680960" cy="5157216"/>
          </a:xfrm>
          <a:prstGeom prst="rect">
            <a:avLst/>
          </a:prstGeom>
          <a:noFill/>
        </p:spPr>
        <p:txBody>
          <a:bodyPr wrap="square">
            <a:spAutoFit/>
          </a:bodyPr>
          <a:lstStyle/>
          <a:p>
            <a:pPr>
              <a:spcBef>
                <a:spcPts val="800"/>
              </a:spcBef>
              <a:spcAft>
                <a:spcPts val="200"/>
              </a:spcAft>
            </a:pPr>
            <a:r>
              <a:rPr sz="1500" b="1" i="0">
                <a:solidFill>
                  <a:srgbClr val="CADCFC"/>
                </a:solidFill>
                <a:latin typeface="Calibri"/>
              </a:rPr>
              <a:t>01.  </a:t>
            </a:r>
            <a:r>
              <a:rPr sz="1500" b="0" i="0">
                <a:solidFill>
                  <a:srgbClr val="FFFFFF"/>
                </a:solidFill>
                <a:latin typeface="Calibri"/>
              </a:rPr>
              <a:t>Giới thiệu về Chủ đề kiểm thử</a:t>
            </a:r>
          </a:p>
          <a:p>
            <a:pPr>
              <a:spcBef>
                <a:spcPts val="800"/>
              </a:spcBef>
              <a:spcAft>
                <a:spcPts val="200"/>
              </a:spcAft>
            </a:pPr>
            <a:r>
              <a:rPr sz="1500" b="1" i="0">
                <a:solidFill>
                  <a:srgbClr val="CADCFC"/>
                </a:solidFill>
                <a:latin typeface="Calibri"/>
              </a:rPr>
              <a:t>02.  </a:t>
            </a:r>
            <a:r>
              <a:rPr sz="1500" b="0" i="0">
                <a:solidFill>
                  <a:srgbClr val="FFFFFF"/>
                </a:solidFill>
                <a:latin typeface="Calibri"/>
              </a:rPr>
              <a:t>Bối cảnh và xu hướng</a:t>
            </a:r>
          </a:p>
          <a:p>
            <a:pPr>
              <a:spcBef>
                <a:spcPts val="800"/>
              </a:spcBef>
              <a:spcAft>
                <a:spcPts val="200"/>
              </a:spcAft>
            </a:pPr>
            <a:r>
              <a:rPr sz="1500" b="1" i="0">
                <a:solidFill>
                  <a:srgbClr val="CADCFC"/>
                </a:solidFill>
                <a:latin typeface="Calibri"/>
              </a:rPr>
              <a:t>03.  </a:t>
            </a:r>
            <a:r>
              <a:rPr sz="1500" b="0" i="0">
                <a:solidFill>
                  <a:srgbClr val="FFFFFF"/>
                </a:solidFill>
                <a:latin typeface="Calibri"/>
              </a:rPr>
              <a:t>Phân tích chi tiết</a:t>
            </a:r>
          </a:p>
          <a:p>
            <a:pPr>
              <a:spcBef>
                <a:spcPts val="800"/>
              </a:spcBef>
              <a:spcAft>
                <a:spcPts val="200"/>
              </a:spcAft>
            </a:pPr>
            <a:r>
              <a:rPr sz="1500" b="1" i="0">
                <a:solidFill>
                  <a:srgbClr val="CADCFC"/>
                </a:solidFill>
                <a:latin typeface="Calibri"/>
              </a:rPr>
              <a:t>04.  </a:t>
            </a:r>
            <a:r>
              <a:rPr sz="1500" b="0" i="0">
                <a:solidFill>
                  <a:srgbClr val="FFFFFF"/>
                </a:solidFill>
                <a:latin typeface="Calibri"/>
              </a:rPr>
              <a:t>Ứng dụng thực tế</a:t>
            </a:r>
          </a:p>
          <a:p>
            <a:pPr>
              <a:spcBef>
                <a:spcPts val="800"/>
              </a:spcBef>
              <a:spcAft>
                <a:spcPts val="200"/>
              </a:spcAft>
            </a:pPr>
            <a:r>
              <a:rPr sz="1500" b="1" i="0">
                <a:solidFill>
                  <a:srgbClr val="CADCFC"/>
                </a:solidFill>
                <a:latin typeface="Calibri"/>
              </a:rPr>
              <a:t>05.  </a:t>
            </a:r>
            <a:r>
              <a:rPr sz="1500" b="0" i="0">
                <a:solidFill>
                  <a:srgbClr val="FFFFFF"/>
                </a:solidFill>
                <a:latin typeface="Calibri"/>
              </a:rPr>
              <a:t>Lợi ích và giá trị mang lại</a:t>
            </a:r>
          </a:p>
          <a:p>
            <a:pPr>
              <a:spcBef>
                <a:spcPts val="800"/>
              </a:spcBef>
              <a:spcAft>
                <a:spcPts val="200"/>
              </a:spcAft>
            </a:pPr>
            <a:r>
              <a:rPr sz="1500" b="1" i="0">
                <a:solidFill>
                  <a:srgbClr val="CADCFC"/>
                </a:solidFill>
                <a:latin typeface="Calibri"/>
              </a:rPr>
              <a:t>06.  </a:t>
            </a:r>
            <a:r>
              <a:rPr sz="1500" b="0" i="0">
                <a:solidFill>
                  <a:srgbClr val="FFFFFF"/>
                </a:solidFill>
                <a:latin typeface="Calibri"/>
              </a:rPr>
              <a:t>Thách thức và giải pháp</a:t>
            </a:r>
          </a:p>
          <a:p>
            <a:pPr>
              <a:spcBef>
                <a:spcPts val="800"/>
              </a:spcBef>
              <a:spcAft>
                <a:spcPts val="200"/>
              </a:spcAft>
            </a:pPr>
            <a:r>
              <a:rPr sz="1500" b="1" i="0">
                <a:solidFill>
                  <a:srgbClr val="CADCFC"/>
                </a:solidFill>
                <a:latin typeface="Calibri"/>
              </a:rPr>
              <a:t>07.  </a:t>
            </a:r>
            <a:r>
              <a:rPr sz="1500" b="0" i="0">
                <a:solidFill>
                  <a:srgbClr val="FFFFFF"/>
                </a:solidFill>
                <a:latin typeface="Calibri"/>
              </a:rPr>
              <a:t>Bài học và khuyến nghị</a:t>
            </a:r>
          </a:p>
          <a:p>
            <a:pPr>
              <a:spcBef>
                <a:spcPts val="800"/>
              </a:spcBef>
              <a:spcAft>
                <a:spcPts val="200"/>
              </a:spcAft>
            </a:pPr>
            <a:r>
              <a:rPr sz="1500" b="1" i="0">
                <a:solidFill>
                  <a:srgbClr val="CADCFC"/>
                </a:solidFill>
                <a:latin typeface="Calibri"/>
              </a:rPr>
              <a:t>08.  </a:t>
            </a:r>
            <a:r>
              <a:rPr sz="1500" b="0" i="0">
                <a:solidFill>
                  <a:srgbClr val="FFFFFF"/>
                </a:solidFill>
                <a:latin typeface="Calibri"/>
              </a:rPr>
              <a:t>Kết luận và Hỏi đáp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Chủ đề kiểm thử</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Định nghĩa, bối</a:t>
            </a:r>
            <a:r>
              <a:rPr sz="1500" b="0" i="0">
                <a:solidFill>
                  <a:srgbClr val="FFFFFF"/>
                </a:solidFill>
                <a:latin typeface="Calibri"/>
              </a:rPr>
              <a:t> cảnh và tầm quan trọng của chủ đề.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'Giới thiệu về Chủ đề kiểm thử'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Bối cảnh và xu hướng</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Bối cảnh và xu hướng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'Bối cảnh và xu hướng'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Phân tích chi tiết</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Phân tích chi tiết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'Phân tích chi tiết'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thực tế</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Ứng dụng thực tế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'Ứng dụng thực tế'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Lợi ích và giá trị mang lại</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Lợi ích và giá trị mang lại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'Lợi ích và giá trị mang lại'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Thách thức và giải pháp</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Thách thức và giải pháp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'Thách thức và giải pháp'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Bài học và khuyến nghị</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Bài học và khuyến nghị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'Bài học và khuyến nghị'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và Hỏi đáp</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Tóm tắt ý</a:t>
            </a:r>
            <a:r>
              <a:rPr sz="1500" b="0" i="0">
                <a:solidFill>
                  <a:srgbClr val="FFFFFF"/>
                </a:solidFill>
                <a:latin typeface="Calibri"/>
              </a:rPr>
              <a:t> chính và định hướng tương lai.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'Kết luận và Hỏi đáp'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