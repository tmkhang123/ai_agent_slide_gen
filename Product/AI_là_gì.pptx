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6583679" cy="6858000"/>
          </a:xfrm>
          <a:prstGeom prst="rect">
            <a:avLst/>
          </a:prstGeom>
        </p:spPr>
      </p:pic>
      <p:sp>
        <p:nvSpPr>
          <p:cNvPr id="4" name="Rectangle 3"/>
          <p:cNvSpPr/>
          <p:nvPr/>
        </p:nvSpPr>
        <p:spPr>
          <a:xfrm>
            <a:off x="0" y="0"/>
            <a:ext cx="164592" cy="6858000"/>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 y="2651760"/>
            <a:ext cx="5029200" cy="41148"/>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51560"/>
            <a:ext cx="5212080" cy="1783080"/>
          </a:xfrm>
          <a:prstGeom prst="rect">
            <a:avLst/>
          </a:prstGeom>
          <a:noFill/>
        </p:spPr>
        <p:txBody>
          <a:bodyPr wrap="square">
            <a:spAutoFit/>
          </a:bodyPr>
          <a:lstStyle/>
          <a:p>
            <a:pPr algn="l"/>
            <a:r>
              <a:rPr sz="3400" b="1" i="0">
                <a:solidFill>
                  <a:srgbClr val="FFFFFF"/>
                </a:solidFill>
                <a:latin typeface="Calibri"/>
              </a:rPr>
              <a:t>Ai là gì?</a:t>
            </a:r>
          </a:p>
        </p:txBody>
      </p:sp>
      <p:sp>
        <p:nvSpPr>
          <p:cNvPr id="7" name="TextBox 6"/>
          <p:cNvSpPr txBox="1"/>
          <p:nvPr/>
        </p:nvSpPr>
        <p:spPr>
          <a:xfrm>
            <a:off x="502920" y="2926080"/>
            <a:ext cx="5212080" cy="1371600"/>
          </a:xfrm>
          <a:prstGeom prst="rect">
            <a:avLst/>
          </a:prstGeom>
          <a:noFill/>
        </p:spPr>
        <p:txBody>
          <a:bodyPr wrap="square">
            <a:spAutoFit/>
          </a:bodyPr>
          <a:lstStyle/>
          <a:p>
            <a:pPr algn="l"/>
            <a:r>
              <a:rPr sz="1500" b="0" i="1">
                <a:solidFill>
                  <a:srgbClr val="CADCFC"/>
                </a:solidFill>
                <a:latin typeface="Calibri"/>
              </a:rPr>
              <a:t>Bài thuyết trình do AI Agent biên soạn</a:t>
            </a:r>
          </a:p>
        </p:txBody>
      </p:sp>
      <p:sp>
        <p:nvSpPr>
          <p:cNvPr id="8" name="TextBox 7"/>
          <p:cNvSpPr txBox="1"/>
          <p:nvPr/>
        </p:nvSpPr>
        <p:spPr>
          <a:xfrm>
            <a:off x="502920" y="6355080"/>
            <a:ext cx="5212080" cy="320040"/>
          </a:xfrm>
          <a:prstGeom prst="rect">
            <a:avLst/>
          </a:prstGeom>
          <a:noFill/>
        </p:spPr>
        <p:txBody>
          <a:bodyPr wrap="square">
            <a:spAutoFit/>
          </a:bodyPr>
          <a:lstStyle/>
          <a:p>
            <a:r>
              <a:rPr sz="900" b="0" i="0">
                <a:solidFill>
                  <a:srgbClr val="CCCCDD"/>
                </a:solidFill>
                <a:latin typeface="Calibri"/>
              </a:rPr>
              <a:t>AI Slides Maker · Powered by Ollama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969264"/>
          </a:xfrm>
          <a:prstGeom prst="rect">
            <a:avLst/>
          </a:prstGeom>
        </p:spPr>
      </p:pic>
      <p:sp>
        <p:nvSpPr>
          <p:cNvPr id="5" name="Rectangle 4"/>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Giới thiệu về AI</a:t>
            </a:r>
          </a:p>
        </p:txBody>
      </p:sp>
      <p:sp>
        <p:nvSpPr>
          <p:cNvPr id="8" name="TextBox 7"/>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AI (Tự động hóa trí tuệ) là một phần mềm máy tính có khả năng tự học hỏi và cải thiện từ kinh nghiệm</a:t>
            </a:r>
          </a:p>
          <a:p>
            <a:pPr>
              <a:spcBef>
                <a:spcPts val="800"/>
              </a:spcBef>
              <a:spcAft>
                <a:spcPts val="300"/>
              </a:spcAft>
            </a:pPr>
            <a:r>
              <a:rPr sz="1500" b="0" i="0">
                <a:solidFill>
                  <a:srgbClr val="FFFFFF"/>
                </a:solidFill>
                <a:latin typeface="Calibri"/>
              </a:rPr>
              <a:t>▪  Dựa trên dữ liệu và thông tin được cung cấp, AI có thể đưa ra quyết định hoặc thực hiện hành động dựa trên các thuật toán và mô hình được thiết kế trước đó</a:t>
            </a:r>
          </a:p>
          <a:p>
            <a:pPr>
              <a:spcBef>
                <a:spcPts val="800"/>
              </a:spcBef>
              <a:spcAft>
                <a:spcPts val="300"/>
              </a:spcAft>
            </a:pPr>
            <a:r>
              <a:rPr sz="1500" b="0" i="0">
                <a:solidFill>
                  <a:srgbClr val="FFFFFF"/>
                </a:solidFill>
                <a:latin typeface="Calibri"/>
              </a:rPr>
              <a:t>▪  Sự phát triển của AI đã mở ra một kỷ nguyên mới trong việc ứng dụng công nghệ vào nhiều lĩnh vực khác nhau như y tế, tài chính, giao thông vận tải</a:t>
            </a:r>
          </a:p>
        </p:txBody>
      </p:sp>
      <p:sp>
        <p:nvSpPr>
          <p:cNvPr id="9" name="TextBox 8"/>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Giới thiệu về 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Định nghĩa và phân loại AI</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AI (Tử động trí tuệ nhân tạo) được định nghĩa là một phần mềm máy tính có khả năng tự học hỏi và cải thiện hiệu suất dựa trên dữ liệu và kinh nghiệm đã có</a:t>
            </a:r>
          </a:p>
          <a:p>
            <a:pPr>
              <a:spcBef>
                <a:spcPts val="800"/>
              </a:spcBef>
              <a:spcAft>
                <a:spcPts val="300"/>
              </a:spcAft>
            </a:pPr>
            <a:r>
              <a:rPr sz="1500" b="0" i="0">
                <a:solidFill>
                  <a:srgbClr val="FFFFFF"/>
                </a:solidFill>
                <a:latin typeface="Calibri"/>
              </a:rPr>
              <a:t>▪  Phân loại AI bao gồm: AI ở một, AI ở một và AI lớn, tùy thuộc vào quy mô ứng dụng và độ phức tạp của hệ thống</a:t>
            </a:r>
          </a:p>
          <a:p>
            <a:pPr>
              <a:spcBef>
                <a:spcPts val="800"/>
              </a:spcBef>
              <a:spcAft>
                <a:spcPts val="300"/>
              </a:spcAft>
            </a:pPr>
            <a:r>
              <a:rPr sz="1500" b="0" i="0">
                <a:solidFill>
                  <a:srgbClr val="FFFFFF"/>
                </a:solidFill>
                <a:latin typeface="Calibri"/>
              </a:rPr>
              <a:t>▪  Một số ứng dụng chính của AI bao gồm: kiểm tra an ninh mạng, tự động hóa công việc văn phòng, phân tích dữ liệu lớn và hỗ trợ trong y tế</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Định nghĩa và phân loại 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969264"/>
          </a:xfrm>
          <a:prstGeom prst="rect">
            <a:avLst/>
          </a:prstGeom>
        </p:spPr>
      </p:pic>
      <p:sp>
        <p:nvSpPr>
          <p:cNvPr id="5" name="Rectangle 4"/>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Các thành phần cơ bản của AI</a:t>
            </a:r>
          </a:p>
        </p:txBody>
      </p:sp>
      <p:sp>
        <p:nvSpPr>
          <p:cNvPr id="8" name="TextBox 7"/>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Kỹ năng học (Machine Learning): là khả năng của máy tính để tự động cải thiện hiệu suất thực hiện một nhiệm vụ dựa trên kinh nghiệm và dữ liệu</a:t>
            </a:r>
          </a:p>
          <a:p>
            <a:pPr>
              <a:spcBef>
                <a:spcPts val="800"/>
              </a:spcBef>
              <a:spcAft>
                <a:spcPts val="300"/>
              </a:spcAft>
            </a:pPr>
            <a:r>
              <a:rPr sz="1500" b="0" i="0">
                <a:solidFill>
                  <a:srgbClr val="FFFFFF"/>
                </a:solidFill>
                <a:latin typeface="Calibri"/>
              </a:rPr>
              <a:t>▪  Ngôn ngữ lập trình và kiến trúc máy tính: là nền tảng kỹ thuật cần thiết cho việc xây dựng và vận hành các hệ thống AI, bao gồm ngôn ngữ lập trình như Python, C++, Java, v.v</a:t>
            </a:r>
          </a:p>
          <a:p>
            <a:pPr>
              <a:spcBef>
                <a:spcPts val="800"/>
              </a:spcBef>
              <a:spcAft>
                <a:spcPts val="300"/>
              </a:spcAft>
            </a:pPr>
            <a:r>
              <a:rPr sz="1500" b="0" i="0">
                <a:solidFill>
                  <a:srgbClr val="FFFFFF"/>
                </a:solidFill>
                <a:latin typeface="Calibri"/>
              </a:rPr>
              <a:t>▪  Trí tuệ nhân tạo (Artificial Intelligence): là lĩnh vực nghiên cứu về việc tạo ra các hệ thống máy tính có khả năng thực hiện các nhiệm vụ thông minh giống con người, từ nhận thức đến hành động</a:t>
            </a:r>
          </a:p>
          <a:p>
            <a:pPr>
              <a:spcBef>
                <a:spcPts val="800"/>
              </a:spcBef>
              <a:spcAft>
                <a:spcPts val="300"/>
              </a:spcAft>
            </a:pPr>
            <a:r>
              <a:rPr sz="1500" b="0" i="0">
                <a:solidFill>
                  <a:srgbClr val="FFFFFF"/>
                </a:solidFill>
                <a:latin typeface="Calibri"/>
              </a:rPr>
              <a:t>▪  Dữ liệu và phân tích dữ liệu: là nguồn cung cấp cho hệ thống AI để học hỏi và cải thiện hiệu suất, đòi hỏi phải xử lý và phân tích dữ liệu lớn và phức tạp</a:t>
            </a:r>
          </a:p>
        </p:txBody>
      </p:sp>
      <p:sp>
        <p:nvSpPr>
          <p:cNvPr id="9" name="TextBox 8"/>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Các thành phần cơ bản của 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Ứng dụng thực tế của AI</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Ứng dụng thực tế của AI có thể thấy rõ ràng trong lĩnh vực y tế như chẩn đoán bệnh một cách chính xác và hiệu quả hơn thông qua phân tích hình ảnh sinh hóa</a:t>
            </a:r>
          </a:p>
          <a:p>
            <a:pPr>
              <a:spcBef>
                <a:spcPts val="800"/>
              </a:spcBef>
              <a:spcAft>
                <a:spcPts val="300"/>
              </a:spcAft>
            </a:pPr>
            <a:r>
              <a:rPr sz="1500" b="0" i="0">
                <a:solidFill>
                  <a:srgbClr val="FFFFFF"/>
                </a:solidFill>
                <a:latin typeface="Calibri"/>
              </a:rPr>
              <a:t>▪  Bên cạnh đó, AI còn được ứng dụng rộng rãi trong giao thông vận tải để cải thiện hiệu suất hành trình và giảm thiểu rủi ro trên đường đi</a:t>
            </a:r>
          </a:p>
          <a:p>
            <a:pPr>
              <a:spcBef>
                <a:spcPts val="800"/>
              </a:spcBef>
              <a:spcAft>
                <a:spcPts val="300"/>
              </a:spcAft>
            </a:pPr>
            <a:r>
              <a:rPr sz="1500" b="0" i="0">
                <a:solidFill>
                  <a:srgbClr val="FFFFFF"/>
                </a:solidFill>
                <a:latin typeface="Calibri"/>
              </a:rPr>
              <a:t>▪  Ngoài ra, AI còn đóng vai trò quan trọng trong lĩnh vực tài chính giúp các công ty đưa ra quyết định đầu tư sáng suốt hơn thông qua phân tích dữ liệu mạnh mẽ</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Ứng dụng thực tế của 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Ưu điểm và nhược điểm của AI</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AI mang lại hiệu suất làm việc cao hơn nhờ khả năng tự động hóa và xử lý dữ liệu lớn</a:t>
            </a:r>
          </a:p>
          <a:p>
            <a:pPr>
              <a:spcBef>
                <a:spcPts val="800"/>
              </a:spcBef>
              <a:spcAft>
                <a:spcPts val="300"/>
              </a:spcAft>
            </a:pPr>
            <a:r>
              <a:rPr sz="1500" b="0" i="0">
                <a:solidFill>
                  <a:srgbClr val="FFFFFF"/>
                </a:solidFill>
                <a:latin typeface="Calibri"/>
              </a:rPr>
              <a:t>▪  AI giúp cải thiện chính xác và giảm sai sót trong quá trình phân tích và đưa ra quyết định thông qua việc sử dụng thuật toán và mô hình học máy</a:t>
            </a:r>
          </a:p>
          <a:p>
            <a:pPr>
              <a:spcBef>
                <a:spcPts val="800"/>
              </a:spcBef>
              <a:spcAft>
                <a:spcPts val="300"/>
              </a:spcAft>
            </a:pPr>
            <a:r>
              <a:rPr sz="1500" b="0" i="0">
                <a:solidFill>
                  <a:srgbClr val="FFFFFF"/>
                </a:solidFill>
                <a:latin typeface="Calibri"/>
              </a:rPr>
              <a:t>▪  Tuy nhiên, AI cũng có thể gây ra vấn đề về mất việc làm khi các công việc được tự động hóa và phụ thuộc vào dữ liệu chất lượng cao để đảm bảo hiệu suất tốt</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Ưu điểm và nhược điểm của 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Các kỹ thuật và phương pháp AI</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Các kỹ thuật Machine Learning (ML) bao gồm Supervised Learning, Unsupervised Learning và Reinforcement Learning, giúp hệ thống tự học hỏi từ dữ liệu và cải thiện hiệu suất</a:t>
            </a:r>
          </a:p>
          <a:p>
            <a:pPr>
              <a:spcBef>
                <a:spcPts val="800"/>
              </a:spcBef>
              <a:spcAft>
                <a:spcPts val="300"/>
              </a:spcAft>
            </a:pPr>
            <a:r>
              <a:rPr sz="1500" b="0" i="0">
                <a:solidFill>
                  <a:srgbClr val="FFFFFF"/>
                </a:solidFill>
                <a:latin typeface="Calibri"/>
              </a:rPr>
              <a:t>▪  Phương pháp Deep Learning (DL) sử dụng mạng thần kinh nhân tạo để phân tích và xử lý dữ liệu phức tạp, thường được ứng dụng trong nhận dạng hình ảnh và ngôn ngữ tự nhiên</a:t>
            </a:r>
          </a:p>
          <a:p>
            <a:pPr>
              <a:spcBef>
                <a:spcPts val="800"/>
              </a:spcBef>
              <a:spcAft>
                <a:spcPts val="300"/>
              </a:spcAft>
            </a:pPr>
            <a:r>
              <a:rPr sz="1500" b="0" i="0">
                <a:solidFill>
                  <a:srgbClr val="FFFFFF"/>
                </a:solidFill>
                <a:latin typeface="Calibri"/>
              </a:rPr>
              <a:t>▪  Kỹ thuật Nghiên cứu Kỹ thuật (Research and Development) là quá trình phát triển và cải tiến các công nghệ AI thông qua nghiên cứu khoa học và thử nghiệm thực tế</a:t>
            </a:r>
          </a:p>
          <a:p>
            <a:pPr>
              <a:spcBef>
                <a:spcPts val="800"/>
              </a:spcBef>
              <a:spcAft>
                <a:spcPts val="300"/>
              </a:spcAft>
            </a:pPr>
            <a:r>
              <a:rPr sz="1500" b="0" i="0">
                <a:solidFill>
                  <a:srgbClr val="FFFFFF"/>
                </a:solidFill>
                <a:latin typeface="Calibri"/>
              </a:rPr>
              <a:t>▪  Các phương pháp và kỹ thuật khác như Trí tuệ nhân tạo dựa trên lý thuyết trò chơi, trí tuệ nhân tạo dựa trên nhận thức và trí tuệ nhân tạo tự chủ cũng đóng vai trò quan trọng trong lĩnh vực AI</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Các kỹ thuật và phương pháp 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Chức năng và vai trò của AI trong cuộc sống</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Chức năng chính của AI là hỗ trợ con người giải quyết các vấn đề phức tạp bằng cách phân tích dữ liệu, đưa ra dự đoán và quyết định dựa trên thông tin có sẵn</a:t>
            </a:r>
          </a:p>
          <a:p>
            <a:pPr>
              <a:spcBef>
                <a:spcPts val="800"/>
              </a:spcBef>
              <a:spcAft>
                <a:spcPts val="300"/>
              </a:spcAft>
            </a:pPr>
            <a:r>
              <a:rPr sz="1500" b="0" i="0">
                <a:solidFill>
                  <a:srgbClr val="FFFFFF"/>
                </a:solidFill>
                <a:latin typeface="Calibri"/>
              </a:rPr>
              <a:t>▪  AI cũng đóng vai trò quan trọng trong việc cải thiện hiệu suất công việc, giảm thiểu thời gian và chi phí cho các doanh nghiệp và tổ chức</a:t>
            </a:r>
          </a:p>
          <a:p>
            <a:pPr>
              <a:spcBef>
                <a:spcPts val="800"/>
              </a:spcBef>
              <a:spcAft>
                <a:spcPts val="300"/>
              </a:spcAft>
            </a:pPr>
            <a:r>
              <a:rPr sz="1500" b="0" i="0">
                <a:solidFill>
                  <a:srgbClr val="FFFFFF"/>
                </a:solidFill>
                <a:latin typeface="Calibri"/>
              </a:rPr>
              <a:t>▪  Ngoài ra, AI còn giúp con người học hỏi và nâng cao kỹ năng một cách tự động hóa và linh hoạt</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Chức năng và vai trò của AI trong cuộc sống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9144000" cy="6858000"/>
          </a:xfrm>
          <a:prstGeom prst="rect">
            <a:avLst/>
          </a:prstGeom>
        </p:spPr>
      </p:pic>
      <p:pic>
        <p:nvPicPr>
          <p:cNvPr id="3" name="Picture 2" descr="image.png"/>
          <p:cNvPicPr>
            <a:picLocks noChangeAspect="1"/>
          </p:cNvPicPr>
          <p:nvPr/>
        </p:nvPicPr>
        <p:blipFill>
          <a:blip r:embed="rId3"/>
          <a:stretch>
            <a:fillRect/>
          </a:stretch>
        </p:blipFill>
        <p:spPr>
          <a:xfrm>
            <a:off x="0" y="0"/>
            <a:ext cx="9144000" cy="6858000"/>
          </a:xfrm>
          <a:prstGeom prst="rect">
            <a:avLst/>
          </a:prstGeom>
        </p:spPr>
      </p:pic>
      <p:pic>
        <p:nvPicPr>
          <p:cNvPr id="4" name="Picture 3" descr="image.png"/>
          <p:cNvPicPr>
            <a:picLocks noChangeAspect="1"/>
          </p:cNvPicPr>
          <p:nvPr/>
        </p:nvPicPr>
        <p:blipFill>
          <a:blip r:embed="rId4"/>
          <a:stretch>
            <a:fillRect/>
          </a:stretch>
        </p:blipFill>
        <p:spPr>
          <a:xfrm>
            <a:off x="0" y="0"/>
            <a:ext cx="9144000" cy="6858000"/>
          </a:xfrm>
          <a:prstGeom prst="rect">
            <a:avLst/>
          </a:prstGeom>
        </p:spPr>
      </p:pic>
      <p:pic>
        <p:nvPicPr>
          <p:cNvPr id="5" name="Picture 4" descr="image.png"/>
          <p:cNvPicPr>
            <a:picLocks noChangeAspect="1"/>
          </p:cNvPicPr>
          <p:nvPr/>
        </p:nvPicPr>
        <p:blipFill>
          <a:blip r:embed="rId5"/>
          <a:stretch>
            <a:fillRect/>
          </a:stretch>
        </p:blipFill>
        <p:spPr>
          <a:xfrm>
            <a:off x="0" y="0"/>
            <a:ext cx="9144000" cy="969264"/>
          </a:xfrm>
          <a:prstGeom prst="rect">
            <a:avLst/>
          </a:prstGeom>
        </p:spPr>
      </p:pic>
      <p:sp>
        <p:nvSpPr>
          <p:cNvPr id="6" name="Rectangle 5"/>
          <p:cNvSpPr/>
          <p:nvPr/>
        </p:nvSpPr>
        <p:spPr>
          <a:xfrm>
            <a:off x="0" y="0"/>
            <a:ext cx="164592" cy="969264"/>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969264"/>
            <a:ext cx="9144000" cy="36576"/>
          </a:xfrm>
          <a:prstGeom prst="rect">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 y="91440"/>
            <a:ext cx="8412480" cy="786384"/>
          </a:xfrm>
          <a:prstGeom prst="rect">
            <a:avLst/>
          </a:prstGeom>
          <a:noFill/>
        </p:spPr>
        <p:txBody>
          <a:bodyPr wrap="square">
            <a:spAutoFit/>
          </a:bodyPr>
          <a:lstStyle/>
          <a:p>
            <a:pPr algn="l"/>
            <a:r>
              <a:rPr sz="2200" b="1" i="0">
                <a:solidFill>
                  <a:srgbClr val="FFFFFF"/>
                </a:solidFill>
                <a:latin typeface="Calibri"/>
              </a:rPr>
              <a:t>Kết luận về tương lai của AI</a:t>
            </a:r>
          </a:p>
        </p:txBody>
      </p:sp>
      <p:sp>
        <p:nvSpPr>
          <p:cNvPr id="9" name="TextBox 8"/>
          <p:cNvSpPr txBox="1"/>
          <p:nvPr/>
        </p:nvSpPr>
        <p:spPr>
          <a:xfrm>
            <a:off x="411480" y="1078992"/>
            <a:ext cx="8321040" cy="5522976"/>
          </a:xfrm>
          <a:prstGeom prst="rect">
            <a:avLst/>
          </a:prstGeom>
          <a:noFill/>
        </p:spPr>
        <p:txBody>
          <a:bodyPr wrap="square">
            <a:spAutoFit/>
          </a:bodyPr>
          <a:lstStyle/>
          <a:p>
            <a:pPr>
              <a:spcBef>
                <a:spcPts val="800"/>
              </a:spcBef>
              <a:spcAft>
                <a:spcPts val="300"/>
              </a:spcAft>
            </a:pPr>
            <a:r>
              <a:rPr sz="1500" b="0" i="0">
                <a:solidFill>
                  <a:srgbClr val="FFFFFF"/>
                </a:solidFill>
                <a:latin typeface="Calibri"/>
              </a:rPr>
              <a:t>▪  Trong tương lai gần, AI sẽ tiếp tục được ứng dụng rộng rãi trong nhiều lĩnh vực khác nhau như y tế, giáo dục, sản xuất và quản lý</a:t>
            </a:r>
          </a:p>
          <a:p>
            <a:pPr>
              <a:spcBef>
                <a:spcPts val="800"/>
              </a:spcBef>
              <a:spcAft>
                <a:spcPts val="300"/>
              </a:spcAft>
            </a:pPr>
            <a:r>
              <a:rPr sz="1500" b="0" i="0">
                <a:solidFill>
                  <a:srgbClr val="FFFFFF"/>
                </a:solidFill>
                <a:latin typeface="Calibri"/>
              </a:rPr>
              <a:t>▪  Kỹ năng làm việc độc lập và khả năng tự học hỏi của AI sẽ giúp chúng trở thành một công cụ đắc lực cho con người</a:t>
            </a:r>
          </a:p>
          <a:p>
            <a:pPr>
              <a:spcBef>
                <a:spcPts val="800"/>
              </a:spcBef>
              <a:spcAft>
                <a:spcPts val="300"/>
              </a:spcAft>
            </a:pPr>
            <a:r>
              <a:rPr sz="1500" b="0" i="0">
                <a:solidFill>
                  <a:srgbClr val="FFFFFF"/>
                </a:solidFill>
                <a:latin typeface="Calibri"/>
              </a:rPr>
              <a:t>▪  Tuy nhiên, cũng cần phải cân nhắc về các vấn đề liên quan đến an toàn và bảo mật khi phát triển và ứng dụng AI</a:t>
            </a:r>
          </a:p>
        </p:txBody>
      </p:sp>
      <p:sp>
        <p:nvSpPr>
          <p:cNvPr id="10" name="TextBox 9"/>
          <p:cNvSpPr txBox="1"/>
          <p:nvPr/>
        </p:nvSpPr>
        <p:spPr>
          <a:xfrm>
            <a:off x="347472" y="6656832"/>
            <a:ext cx="8412480" cy="164592"/>
          </a:xfrm>
          <a:prstGeom prst="rect">
            <a:avLst/>
          </a:prstGeom>
          <a:noFill/>
        </p:spPr>
        <p:txBody>
          <a:bodyPr wrap="square">
            <a:spAutoFit/>
          </a:bodyPr>
          <a:lstStyle/>
          <a:p>
            <a:pPr algn="r"/>
            <a:r>
              <a:rPr sz="800" b="0" i="0">
                <a:solidFill>
                  <a:srgbClr val="CCCCDD"/>
                </a:solidFill>
                <a:latin typeface="Calibri"/>
              </a:rPr>
              <a:t>Kết luận về tương lai của 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