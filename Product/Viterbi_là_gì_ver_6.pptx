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Viterbi là gì?</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Giới thiệu tổng quan về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Định nghĩa</a:t>
            </a:r>
            <a:r>
              <a:rPr sz="1400" b="0" i="0">
                <a:solidFill>
                  <a:srgbClr val="FFFFFF"/>
                </a:solidFill>
                <a:latin typeface="Calibri"/>
              </a:rPr>
              <a:t>: Viterbi là một thuật toán phân tích cú pháp được sử dụng rộng rãi trong lĩnh vực xử lý tín hiệu số (DSP) và kỹ thuật thông tin. Nó được áp dụng trong nhiều lĩnh vực liên quan đến xử lý tín hiệu và thông tin, bao gồm cả truyền thông không dây, truyền thông vệ tinh, và kỹ thuật mã hóa</a:t>
            </a:r>
          </a:p>
          <a:p>
            <a:pPr>
              <a:spcBef>
                <a:spcPts val="800"/>
              </a:spcBef>
              <a:spcAft>
                <a:spcPts val="300"/>
              </a:spcAft>
            </a:pPr>
            <a:r>
              <a:rPr sz="1500" b="1" i="0">
                <a:solidFill>
                  <a:srgbClr val="CADCFC"/>
                </a:solidFill>
                <a:latin typeface="Calibri"/>
              </a:rPr>
              <a:t>▪  </a:t>
            </a:r>
            <a:r>
              <a:rPr sz="1400" b="1" i="0">
                <a:solidFill>
                  <a:srgbClr val="FFFFFF"/>
                </a:solidFill>
                <a:latin typeface="Calibri"/>
              </a:rPr>
              <a:t>Nguồn gốc</a:t>
            </a:r>
            <a:r>
              <a:rPr sz="1400" b="0" i="0">
                <a:solidFill>
                  <a:srgbClr val="FFFFFF"/>
                </a:solidFill>
                <a:latin typeface="Calibri"/>
              </a:rPr>
              <a:t>: Thuật toán Viterbi được phát triển bởi Andrew J. Viterbi vào cuối những năm 1950 như một phần của công trình nghiên cứu về hệ thống truyền dẫn dữ liệu số</a:t>
            </a:r>
          </a:p>
          <a:p>
            <a:pPr>
              <a:spcBef>
                <a:spcPts val="800"/>
              </a:spcBef>
              <a:spcAft>
                <a:spcPts val="300"/>
              </a:spcAft>
            </a:pPr>
            <a:r>
              <a:rPr sz="1500" b="1" i="0">
                <a:solidFill>
                  <a:srgbClr val="CADCFC"/>
                </a:solidFill>
                <a:latin typeface="Calibri"/>
              </a:rPr>
              <a:t>▪  </a:t>
            </a:r>
            <a:r>
              <a:rPr sz="1400" b="1" i="0">
                <a:solidFill>
                  <a:srgbClr val="FFFFFF"/>
                </a:solidFill>
                <a:latin typeface="Calibri"/>
              </a:rPr>
              <a:t>Tính ứng dụng phổ biến</a:t>
            </a:r>
            <a:r>
              <a:rPr sz="1400" b="0" i="0">
                <a:solidFill>
                  <a:srgbClr val="FFFFFF"/>
                </a:solidFill>
                <a:latin typeface="Calibri"/>
              </a:rPr>
              <a:t>: Nó được áp dụng trong nhiều lĩnh vực liên quan đến xử lý tín hiệu và thông tin, bao gồm cả truyền thông không dây, truyền thông vệ tinh, và kỹ thuật mã hóa</a:t>
            </a:r>
          </a:p>
          <a:p>
            <a:pPr>
              <a:spcBef>
                <a:spcPts val="800"/>
              </a:spcBef>
              <a:spcAft>
                <a:spcPts val="300"/>
              </a:spcAft>
            </a:pPr>
            <a:r>
              <a:rPr sz="1500" b="1" i="0">
                <a:solidFill>
                  <a:srgbClr val="CADCFC"/>
                </a:solidFill>
                <a:latin typeface="Calibri"/>
              </a:rPr>
              <a:t>▪  </a:t>
            </a:r>
            <a:r>
              <a:rPr sz="1400" b="0" i="0">
                <a:solidFill>
                  <a:srgbClr val="FFFFFF"/>
                </a:solidFill>
                <a:latin typeface="Calibri"/>
              </a:rPr>
              <a:t>Viết lại các ý nông cạn hoặc sáo rỗng bằng kiến thức chuyên môn thực chất</a:t>
            </a:r>
          </a:p>
          <a:p>
            <a:pPr>
              <a:spcBef>
                <a:spcPts val="800"/>
              </a:spcBef>
              <a:spcAft>
                <a:spcPts val="300"/>
              </a:spcAft>
            </a:pPr>
            <a:r>
              <a:rPr sz="1500" b="1" i="0">
                <a:solidFill>
                  <a:srgbClr val="CADCFC"/>
                </a:solidFill>
                <a:latin typeface="Calibri"/>
              </a:rPr>
              <a:t>▪  </a:t>
            </a:r>
            <a:r>
              <a:rPr sz="1400" b="0" i="0">
                <a:solidFill>
                  <a:srgbClr val="FFFFFF"/>
                </a:solidFill>
                <a:latin typeface="Calibri"/>
              </a:rPr>
              <a:t>Rút gọn các câu quá dài và đảm bảo mỗi dòng súc tích, cô đọng nhưng vẫn giàu giá trị thông tin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Chương trình nghị sự</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Phần 1: Cơ chế phân tích cú pháp của Viterbi</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2: Ứng dụng của Viterbi trong xử lý ngôn ngữ tự nhiên</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3: So sánh với các thuật toán khác</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4: Cấu trúc cơ bản của thuật toán Viterbi</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phân tích cú pháp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Cơ chế phân tích cú pháp của Viterbi dựa trên thuật toán tìm kiếm trạng thái cuối cùng có giá trị lớn nhất (Viterbi Algorithm), được sử dụng trong các mô hình Hidden Markov (HMM)</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giúp xác định chuỗi trạng thái có khả năng cao nhất dẫn đến một loạt hiện tượng quan sát được</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phân tích cú pháp của Viterbi đảm bảo sự tối ưu hóa khi tìm kiếm chuỗi trạng thái phù hợp với dữ liệu quan sát, nhờ đó giúp nâng cao độ chính xác trong các ứng dụng như nhận dạng giọng nói, nhận dạng chữ viết và nhiều lĩnh vực khác liên quan đến xử lý ngôn ngữ tự nhiên</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phân tích cú pháp của Viterbi được thực hiện bằng cách tính toán khả năng của mỗi trạng thái cuối cùng và lưu trữ các thông tin cần thiết để sau đó sử dụng chúng trong việc xác định chuỗi trạng thái có giá trị lớn nhất</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đảm bảo sự tối ưu hóa khi tìm kiếm chuỗi trạng thái phù hợp với dữ liệu quan sát</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của Viterbi trong xử lý ngôn ngữ tự nhiên</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được ứng dụng rộng rãi trong xử lý ngôn ngữ tự nhiên để nhận dạng từ vựng và phân tích câu trúc bằng cách sử dụng mô hình Hidden Markov (HMM)</a:t>
            </a:r>
          </a:p>
          <a:p>
            <a:pPr>
              <a:spcBef>
                <a:spcPts val="800"/>
              </a:spcBef>
              <a:spcAft>
                <a:spcPts val="300"/>
              </a:spcAft>
            </a:pPr>
            <a:r>
              <a:rPr sz="1500" b="1" i="0">
                <a:solidFill>
                  <a:srgbClr val="CADCFC"/>
                </a:solidFill>
                <a:latin typeface="Calibri"/>
              </a:rPr>
              <a:t>▪  </a:t>
            </a:r>
            <a:r>
              <a:rPr sz="1400" b="0" i="0">
                <a:solidFill>
                  <a:srgbClr val="FFFFFF"/>
                </a:solidFill>
                <a:latin typeface="Calibri"/>
              </a:rPr>
              <a:t>Mô hình HMM sử dụng trạng thái ẩn để mô tả các biến thể khác nhau của từ vựng và câu trúc</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được sử dụng để xác định trạng thái ẩn có giá trị cao nhất trong mô hình HMM</a:t>
            </a:r>
          </a:p>
          <a:p>
            <a:pPr>
              <a:spcBef>
                <a:spcPts val="800"/>
              </a:spcBef>
              <a:spcAft>
                <a:spcPts val="300"/>
              </a:spcAft>
            </a:pPr>
            <a:r>
              <a:rPr sz="1500" b="1" i="0">
                <a:solidFill>
                  <a:srgbClr val="CADCFC"/>
                </a:solidFill>
                <a:latin typeface="Calibri"/>
              </a:rPr>
              <a:t>▪  </a:t>
            </a:r>
            <a:r>
              <a:rPr sz="1400" b="0" i="0">
                <a:solidFill>
                  <a:srgbClr val="FFFFFF"/>
                </a:solidFill>
                <a:latin typeface="Calibri"/>
              </a:rPr>
              <a:t>Ứng dụng này giúp nâng cao hiệu suất nhận dạng từ vựng và phân tích câu trúc trong ngôn ngữ tự nhiên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So sánh với các thuật toán khác</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Viterbi so sánh</a:t>
            </a:r>
            <a:r>
              <a:rPr sz="1400" b="0" i="0">
                <a:solidFill>
                  <a:srgbClr val="FFFFFF"/>
                </a:solidFill>
                <a:latin typeface="Calibri"/>
              </a:rPr>
              <a:t> tốt với BCJR trong việc tối ưu hóa động thái HMM, nhưng lại thua kém ở khả năng xử lý sự bất thường và không chắc chắn</a:t>
            </a:r>
          </a:p>
          <a:p>
            <a:pPr>
              <a:spcBef>
                <a:spcPts val="800"/>
              </a:spcBef>
              <a:spcAft>
                <a:spcPts val="300"/>
              </a:spcAft>
            </a:pPr>
            <a:r>
              <a:rPr sz="1500" b="1" i="0">
                <a:solidFill>
                  <a:srgbClr val="CADCFC"/>
                </a:solidFill>
                <a:latin typeface="Calibri"/>
              </a:rPr>
              <a:t>▪  </a:t>
            </a:r>
            <a:r>
              <a:rPr sz="1400" b="1" i="0">
                <a:solidFill>
                  <a:srgbClr val="FFFFFF"/>
                </a:solidFill>
                <a:latin typeface="Calibri"/>
              </a:rPr>
              <a:t>So với thuật</a:t>
            </a:r>
            <a:r>
              <a:rPr sz="1400" b="0" i="0">
                <a:solidFill>
                  <a:srgbClr val="FFFFFF"/>
                </a:solidFill>
                <a:latin typeface="Calibri"/>
              </a:rPr>
              <a:t> toán Fano, Viterbi có thể đạt được hiệu suất cao hơn trong các tình huống có độ phức tạp lớn, nhưng lại đòi hỏi lượng dữ liệu đầu vào khắt khe hơn</a:t>
            </a:r>
          </a:p>
          <a:p>
            <a:pPr>
              <a:spcBef>
                <a:spcPts val="800"/>
              </a:spcBef>
              <a:spcAft>
                <a:spcPts val="300"/>
              </a:spcAft>
            </a:pPr>
            <a:r>
              <a:rPr sz="1500" b="1" i="0">
                <a:solidFill>
                  <a:srgbClr val="CADCFC"/>
                </a:solidFill>
                <a:latin typeface="Calibri"/>
              </a:rPr>
              <a:t>▪  </a:t>
            </a:r>
            <a:r>
              <a:rPr sz="1400" b="1" i="0">
                <a:solidFill>
                  <a:srgbClr val="FFFFFF"/>
                </a:solidFill>
                <a:latin typeface="Calibri"/>
              </a:rPr>
              <a:t>Trong lĩnh vực</a:t>
            </a:r>
            <a:r>
              <a:rPr sz="1400" b="0" i="0">
                <a:solidFill>
                  <a:srgbClr val="FFFFFF"/>
                </a:solidFill>
                <a:latin typeface="Calibri"/>
              </a:rPr>
              <a:t> xử lý ngôn ngữ tự nhiên, Viterbi đã chứng minh được khả năng vượt trội so với thuật toán Dijkstra ở việc tối ưu hóa các mô hình trạng thái ngẫu nhiên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Cấu trúc cơ bản của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Cấu trúc cơ bản của thuật toán Viterbi bao gồm ba phần chính: quá trình phát hiện trạng thái, quá trình xác định kết quả và quá trình tính toán phân kỳ</a:t>
            </a:r>
          </a:p>
          <a:p>
            <a:pPr>
              <a:spcBef>
                <a:spcPts val="800"/>
              </a:spcBef>
              <a:spcAft>
                <a:spcPts val="300"/>
              </a:spcAft>
            </a:pPr>
            <a:r>
              <a:rPr sz="1500" b="1" i="0">
                <a:solidFill>
                  <a:srgbClr val="CADCFC"/>
                </a:solidFill>
                <a:latin typeface="Calibri"/>
              </a:rPr>
              <a:t>▪  </a:t>
            </a:r>
            <a:r>
              <a:rPr sz="1400" b="0" i="0">
                <a:solidFill>
                  <a:srgbClr val="FFFFFF"/>
                </a:solidFill>
                <a:latin typeface="Calibri"/>
              </a:rPr>
              <a:t>Quá trình phát hiện trạng thái sử dụng mô hình </a:t>
            </a:r>
            <a:r>
              <a:rPr sz="1400" b="1" i="0">
                <a:solidFill>
                  <a:srgbClr val="FFFFFF"/>
                </a:solidFill>
                <a:latin typeface="Calibri"/>
              </a:rPr>
              <a:t>Hidden Markov</a:t>
            </a:r>
            <a:r>
              <a:rPr sz="1400" b="0" i="0">
                <a:solidFill>
                  <a:srgbClr val="FFFFFF"/>
                </a:solidFill>
                <a:latin typeface="Calibri"/>
              </a:rPr>
              <a:t> để ước lượng trạng thái hiện tại dựa trên các tham số đã biết và dữ liệu đầu vào</a:t>
            </a:r>
          </a:p>
          <a:p>
            <a:pPr>
              <a:spcBef>
                <a:spcPts val="800"/>
              </a:spcBef>
              <a:spcAft>
                <a:spcPts val="300"/>
              </a:spcAft>
            </a:pPr>
            <a:r>
              <a:rPr sz="1500" b="1" i="0">
                <a:solidFill>
                  <a:srgbClr val="CADCFC"/>
                </a:solidFill>
                <a:latin typeface="Calibri"/>
              </a:rPr>
              <a:t>▪  </a:t>
            </a:r>
            <a:r>
              <a:rPr sz="1400" b="0" i="0">
                <a:solidFill>
                  <a:srgbClr val="FFFFFF"/>
                </a:solidFill>
                <a:latin typeface="Calibri"/>
              </a:rPr>
              <a:t>Quá trình xác định kết quả sử dụng thuật toán Viterbi để tìm kiếm con đường có khả năng xảy ra nhất giữa các trạng thái</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Số liệu quan trọng và ứng dụng thực tế</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1">
                <a:solidFill>
                  <a:srgbClr val="FFFFFF"/>
                </a:solidFill>
                <a:latin typeface="Calibri"/>
              </a:rPr>
              <a:t>Slide:</a:t>
            </a:r>
            <a:r>
              <a:rPr sz="1400" b="0" i="0">
                <a:solidFill>
                  <a:srgbClr val="FFFFFF"/>
                </a:solidFill>
                <a:latin typeface="Calibri"/>
              </a:rPr>
              <a:t>* Số liệu quan trọng và ứng dụng thực tế</a:t>
            </a:r>
          </a:p>
          <a:p>
            <a:pPr>
              <a:spcBef>
                <a:spcPts val="800"/>
              </a:spcBef>
              <a:spcAft>
                <a:spcPts val="300"/>
              </a:spcAft>
            </a:pPr>
            <a:r>
              <a:rPr sz="1500" b="1" i="0">
                <a:solidFill>
                  <a:srgbClr val="CADCFC"/>
                </a:solidFill>
                <a:latin typeface="Calibri"/>
              </a:rPr>
              <a:t>▪  </a:t>
            </a:r>
            <a:r>
              <a:rPr sz="1400" b="1" i="0">
                <a:solidFill>
                  <a:srgbClr val="FFFFFF"/>
                </a:solidFill>
                <a:latin typeface="Calibri"/>
              </a:rPr>
              <a:t>Viterbi được áp</a:t>
            </a:r>
            <a:r>
              <a:rPr sz="1400" b="0" i="0">
                <a:solidFill>
                  <a:srgbClr val="FFFFFF"/>
                </a:solidFill>
                <a:latin typeface="Calibri"/>
              </a:rPr>
              <a:t> dụng rộng rãi trong xử lý tín hiệu ở các hệ thống truyền thông, chẳng hạn như mã hóa số, giải mã số và truyền dẫn không dây</a:t>
            </a:r>
          </a:p>
          <a:p>
            <a:pPr>
              <a:spcBef>
                <a:spcPts val="800"/>
              </a:spcBef>
              <a:spcAft>
                <a:spcPts val="300"/>
              </a:spcAft>
            </a:pPr>
            <a:r>
              <a:rPr sz="1500" b="1" i="0">
                <a:solidFill>
                  <a:srgbClr val="CADCFC"/>
                </a:solidFill>
                <a:latin typeface="Calibri"/>
              </a:rPr>
              <a:t>▪  </a:t>
            </a:r>
            <a:r>
              <a:rPr sz="1400" b="1" i="0">
                <a:solidFill>
                  <a:srgbClr val="FFFFFF"/>
                </a:solidFill>
                <a:latin typeface="Calibri"/>
              </a:rPr>
              <a:t>Thuật toán này</a:t>
            </a:r>
            <a:r>
              <a:rPr sz="1400" b="0" i="0">
                <a:solidFill>
                  <a:srgbClr val="FFFFFF"/>
                </a:solidFill>
                <a:latin typeface="Calibri"/>
              </a:rPr>
              <a:t> cũng được sử dụng trong các ứng dụng khác như phân tích cú pháp ngôn ngữ tự nhiên, nhận dạng giọng nói và xử lý hình ảnh</a:t>
            </a:r>
          </a:p>
          <a:p>
            <a:pPr>
              <a:spcBef>
                <a:spcPts val="800"/>
              </a:spcBef>
              <a:spcAft>
                <a:spcPts val="300"/>
              </a:spcAft>
            </a:pPr>
            <a:r>
              <a:rPr sz="1500" b="1" i="0">
                <a:solidFill>
                  <a:srgbClr val="CADCFC"/>
                </a:solidFill>
                <a:latin typeface="Calibri"/>
              </a:rPr>
              <a:t>▪  </a:t>
            </a:r>
            <a:r>
              <a:rPr sz="1400" b="1" i="0">
                <a:solidFill>
                  <a:srgbClr val="FFFFFF"/>
                </a:solidFill>
                <a:latin typeface="Calibri"/>
              </a:rPr>
              <a:t>Viterbi có thể</a:t>
            </a:r>
            <a:r>
              <a:rPr sz="1400" b="0" i="0">
                <a:solidFill>
                  <a:srgbClr val="FFFFFF"/>
                </a:solidFill>
                <a:latin typeface="Calibri"/>
              </a:rPr>
              <a:t> đạt hiệu suất tối ưu ở cấp độ bit, cho phép tăng cường độ tin cậy và giảm thiểu sai số trong truyền thông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Tính mở rộng và cải tiến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được áp dụng vào lĩnh vực học máy (machine learning) để cải thiện hiệu suất của các mô hình học sâu (deep learning)</a:t>
            </a:r>
          </a:p>
          <a:p>
            <a:pPr>
              <a:spcBef>
                <a:spcPts val="800"/>
              </a:spcBef>
              <a:spcAft>
                <a:spcPts val="300"/>
              </a:spcAft>
            </a:pPr>
            <a:r>
              <a:rPr sz="1500" b="1" i="0">
                <a:solidFill>
                  <a:srgbClr val="CADCFC"/>
                </a:solidFill>
                <a:latin typeface="Calibri"/>
              </a:rPr>
              <a:t>▪  </a:t>
            </a:r>
            <a:r>
              <a:rPr sz="1400" b="0" i="0">
                <a:solidFill>
                  <a:srgbClr val="FFFFFF"/>
                </a:solidFill>
                <a:latin typeface="Calibri"/>
              </a:rPr>
              <a:t>Kỹ thuật này cũng đã được mở rộng để phù hợp với các ứng dụng thực tế khác nhau, chẳng hạn như xử lý tín hiệu đa kênh (MIMO) và mã hóa dữ liệu trên nhiều lớp truyền thông</a:t>
            </a:r>
          </a:p>
          <a:p>
            <a:pPr>
              <a:spcBef>
                <a:spcPts val="800"/>
              </a:spcBef>
              <a:spcAft>
                <a:spcPts val="300"/>
              </a:spcAft>
            </a:pPr>
            <a:r>
              <a:rPr sz="1500" b="1" i="0">
                <a:solidFill>
                  <a:srgbClr val="CADCFC"/>
                </a:solidFill>
                <a:latin typeface="Calibri"/>
              </a:rPr>
              <a:t>▪  </a:t>
            </a:r>
            <a:r>
              <a:rPr sz="1400" b="0" i="0">
                <a:solidFill>
                  <a:srgbClr val="FFFFFF"/>
                </a:solidFill>
                <a:latin typeface="Calibri"/>
              </a:rPr>
              <a:t>Các phương pháp mở rộng khác bao gồm việc sử dụng Viterbi trong mạng lưới phức tạp hơn, chẳng hạn như mạng không dây hoặc mạng có khả năng tự tổ chức</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Kết luận về tầm quan trọng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là </a:t>
            </a:r>
            <a:r>
              <a:rPr sz="1400" b="1" i="0">
                <a:solidFill>
                  <a:srgbClr val="FFFFFF"/>
                </a:solidFill>
                <a:latin typeface="Calibri"/>
              </a:rPr>
              <a:t>thuật toán phân tích cú pháp động</a:t>
            </a:r>
            <a:r>
              <a:rPr sz="1400" b="0" i="0">
                <a:solidFill>
                  <a:srgbClr val="FFFFFF"/>
                </a:solidFill>
                <a:latin typeface="Calibri"/>
              </a:rPr>
              <a:t> được sử dụng rộng rãi trong xử lý tín hiệu và truyền thông</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cung cấp phương pháp tối ưu để ước lượng trạng thái của hệ thống và điều khiển quá trình truyền dữ liệu dựa trên thông tin về môi trường và tín hiệu nhận được</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đã trở thành một phần quan trọng trong nhiều ứng dụng thực tế như </a:t>
            </a:r>
            <a:r>
              <a:rPr sz="1400" b="1" i="0">
                <a:solidFill>
                  <a:srgbClr val="FFFFFF"/>
                </a:solidFill>
                <a:latin typeface="Calibri"/>
              </a:rPr>
              <a:t>truyền hình tương tự</a:t>
            </a:r>
            <a:r>
              <a:rPr sz="1400" b="0" i="0">
                <a:solidFill>
                  <a:srgbClr val="FFFFFF"/>
                </a:solidFill>
                <a:latin typeface="Calibri"/>
              </a:rPr>
              <a:t>, </a:t>
            </a:r>
            <a:r>
              <a:rPr sz="1400" b="1" i="0">
                <a:solidFill>
                  <a:srgbClr val="FFFFFF"/>
                </a:solidFill>
                <a:latin typeface="Calibri"/>
              </a:rPr>
              <a:t>truyền số liệu qua vệ tinh</a:t>
            </a:r>
            <a:r>
              <a:rPr sz="1400" b="0" i="0">
                <a:solidFill>
                  <a:srgbClr val="FFFFFF"/>
                </a:solidFill>
                <a:latin typeface="Calibri"/>
              </a:rPr>
              <a:t> và </a:t>
            </a:r>
            <a:r>
              <a:rPr sz="1400" b="1" i="0">
                <a:solidFill>
                  <a:srgbClr val="FFFFFF"/>
                </a:solidFill>
                <a:latin typeface="Calibri"/>
              </a:rPr>
              <a:t>mã hóa liên tục</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cung cấp khả năng ước lượng trạng thái của hệ thống với độ chính xác cao và độ tin cậy cao</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