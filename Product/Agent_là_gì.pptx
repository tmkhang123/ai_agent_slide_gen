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Agent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tổng quan về Agent trong Xử lý ngôn ngữ tự nhiên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Tổng quan về Agent trong Xử lý ngôn ngữ tự nhiên</a:t>
            </a:r>
          </a:p>
          <a:p>
            <a:pPr>
              <a:spcBef>
                <a:spcPts val="800"/>
              </a:spcBef>
              <a:spcAft>
                <a:spcPts val="300"/>
              </a:spcAft>
            </a:pPr>
            <a:r>
              <a:rPr sz="1500" b="1" i="0">
                <a:solidFill>
                  <a:srgbClr val="CADCFC"/>
                </a:solidFill>
                <a:latin typeface="Calibri"/>
              </a:rPr>
              <a:t>▪  </a:t>
            </a:r>
            <a:r>
              <a:rPr sz="1400" b="1" i="0">
                <a:solidFill>
                  <a:srgbClr val="FFFFFF"/>
                </a:solidFill>
                <a:latin typeface="Calibri"/>
              </a:rPr>
              <a:t>Agent</a:t>
            </a:r>
            <a:r>
              <a:rPr sz="1400" b="0" i="0">
                <a:solidFill>
                  <a:srgbClr val="FFFFFF"/>
                </a:solidFill>
                <a:latin typeface="Calibri"/>
              </a:rPr>
              <a:t> được định nghĩa là một mô hình máy tính có khả năng tương tác với môi trường xung quanh bằng cách thực hiện các hành động và đưa ra quyết định dựa trên tình huống hiện tại, sử dụng kiến thức và kỹ thuật xử lý ngôn ngữ tự nhiên</a:t>
            </a:r>
          </a:p>
          <a:p>
            <a:pPr>
              <a:spcBef>
                <a:spcPts val="800"/>
              </a:spcBef>
              <a:spcAft>
                <a:spcPts val="300"/>
              </a:spcAft>
            </a:pPr>
            <a:r>
              <a:rPr sz="1500" b="1" i="0">
                <a:solidFill>
                  <a:srgbClr val="CADCFC"/>
                </a:solidFill>
                <a:latin typeface="Calibri"/>
              </a:rPr>
              <a:t>▪  </a:t>
            </a:r>
            <a:r>
              <a:rPr sz="1400" b="1" i="0">
                <a:solidFill>
                  <a:srgbClr val="FFFFFF"/>
                </a:solidFill>
                <a:latin typeface="Calibri"/>
              </a:rPr>
              <a:t>Agent</a:t>
            </a:r>
            <a:r>
              <a:rPr sz="1400" b="0" i="0">
                <a:solidFill>
                  <a:srgbClr val="FFFFFF"/>
                </a:solidFill>
                <a:latin typeface="Calibri"/>
              </a:rPr>
              <a:t> hoạt động độc lập, không cần sự can thiệp của người dùng, và thường được thiết kế để giải quyết các vấn đề cụ thể trong Xử lý ngôn ngữ tự nhiên như dịch thuật, phân tích cảm xúc trong văn bản, hoặc kiến tạo câu hỏi thông qua việc áp dụng các kỹ thuật xử lý ngôn ngữ tự nhiên</a:t>
            </a:r>
          </a:p>
          <a:p>
            <a:pPr>
              <a:spcBef>
                <a:spcPts val="800"/>
              </a:spcBef>
              <a:spcAft>
                <a:spcPts val="300"/>
              </a:spcAft>
            </a:pPr>
            <a:r>
              <a:rPr sz="1500" b="1" i="0">
                <a:solidFill>
                  <a:srgbClr val="CADCFC"/>
                </a:solidFill>
                <a:latin typeface="Calibri"/>
              </a:rPr>
              <a:t>▪  </a:t>
            </a:r>
            <a:r>
              <a:rPr sz="1400" b="1" i="0">
                <a:solidFill>
                  <a:srgbClr val="FFFFFF"/>
                </a:solidFill>
                <a:latin typeface="Calibri"/>
              </a:rPr>
              <a:t>Agent</a:t>
            </a:r>
            <a:r>
              <a:rPr sz="1400" b="0" i="0">
                <a:solidFill>
                  <a:srgbClr val="FFFFFF"/>
                </a:solidFill>
                <a:latin typeface="Calibri"/>
              </a:rPr>
              <a:t> có thể được phân loại thành nhiều loại khác nhau dựa trên chức năng và khả năng, bao gồm Agent trí tuệ nhân tạo (AA), Agent dựa trên quy tắc (RBA), và Agent dựa trên sự học tập (LFA), mỗi loại đều ứng dụng các kỹ thuật xử lý ngôn ngữ tự nhiên để đạt được mục tiêu</a:t>
            </a:r>
          </a:p>
          <a:p>
            <a:pPr>
              <a:spcBef>
                <a:spcPts val="800"/>
              </a:spcBef>
              <a:spcAft>
                <a:spcPts val="300"/>
              </a:spcAft>
            </a:pPr>
            <a:r>
              <a:rPr sz="1500" b="1" i="0">
                <a:solidFill>
                  <a:srgbClr val="CADCFC"/>
                </a:solidFill>
                <a:latin typeface="Calibri"/>
              </a:rPr>
              <a:t>▪  </a:t>
            </a:r>
            <a:r>
              <a:rPr sz="1400" b="0" i="0">
                <a:solidFill>
                  <a:srgbClr val="FFFFFF"/>
                </a:solidFill>
                <a:latin typeface="Calibri"/>
              </a:rPr>
              <a:t>Loại bỏ số liệu fabricated và thuật ngữ lạ/sai thực chất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quá dài để đảm bảo mỗi dòng súc tích, cô đọng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a:t>
            </a:r>
            <a:r>
              <a:rPr sz="1400" b="1" i="0">
                <a:solidFill>
                  <a:srgbClr val="FFFFFF"/>
                </a:solidFill>
                <a:latin typeface="Calibri"/>
              </a:rPr>
              <a:t>Cơ chế vận hành của Agent</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của Agent dựa trên mô hình tương tác giữa người dùng và hệ thống, bao gồm việc nhận thức, quyết định và hành động</a:t>
            </a:r>
          </a:p>
          <a:p>
            <a:pPr>
              <a:spcBef>
                <a:spcPts val="800"/>
              </a:spcBef>
              <a:spcAft>
                <a:spcPts val="300"/>
              </a:spcAft>
            </a:pPr>
            <a:r>
              <a:rPr sz="1500" b="1" i="0">
                <a:solidFill>
                  <a:srgbClr val="CADCFC"/>
                </a:solidFill>
                <a:latin typeface="Calibri"/>
              </a:rPr>
              <a:t>▪  </a:t>
            </a:r>
            <a:r>
              <a:rPr sz="1400" b="0" i="0">
                <a:solidFill>
                  <a:srgbClr val="FFFFFF"/>
                </a:solidFill>
                <a:latin typeface="Calibri"/>
              </a:rPr>
              <a:t>Agent được thiết kế để tự động thực hiện các nhiệm vụ phức tạp thông qua việc phân tích dữ liệu và đưa ra quyết định</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a:t>
            </a:r>
            <a:r>
              <a:rPr sz="1400" b="1" i="0">
                <a:solidFill>
                  <a:srgbClr val="FFFFFF"/>
                </a:solidFill>
                <a:latin typeface="Calibri"/>
              </a:rPr>
              <a:t>Mô hình toán học và thuật toán trong Agent</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toán học của Agent dựa trên các phương pháp tối ưu hóa như Q-learning, SARSA và Deep Q-Network (DQN)</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được sử dụng để cập nhật trạng thái và hành động của Agent dựa trên kinh nghiệm</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a:t>
            </a:r>
            <a:r>
              <a:rPr sz="1400" b="1" i="0">
                <a:solidFill>
                  <a:srgbClr val="FFFFFF"/>
                </a:solidFill>
                <a:latin typeface="Calibri"/>
              </a:rPr>
              <a:t>Ứng dụng thực tiễn của Agent trong NLP</a:t>
            </a:r>
          </a:p>
          <a:p>
            <a:pPr>
              <a:spcBef>
                <a:spcPts val="800"/>
              </a:spcBef>
              <a:spcAft>
                <a:spcPts val="300"/>
              </a:spcAft>
            </a:pPr>
            <a:r>
              <a:rPr sz="1500" b="1" i="0">
                <a:solidFill>
                  <a:srgbClr val="CADCFC"/>
                </a:solidFill>
                <a:latin typeface="Calibri"/>
              </a:rPr>
              <a:t>▪  </a:t>
            </a:r>
            <a:r>
              <a:rPr sz="1400" b="0" i="0">
                <a:solidFill>
                  <a:srgbClr val="FFFFFF"/>
                </a:solidFill>
                <a:latin typeface="Calibri"/>
              </a:rPr>
              <a:t>Agent có thể được áp dụng trong các ứng dụng NLP như dịch thuật tự động, xử lý ngôn ngữ tự nhiên và chatbot</a:t>
            </a:r>
          </a:p>
          <a:p>
            <a:pPr>
              <a:spcBef>
                <a:spcPts val="800"/>
              </a:spcBef>
              <a:spcAft>
                <a:spcPts val="300"/>
              </a:spcAft>
            </a:pPr>
            <a:r>
              <a:rPr sz="1500" b="1" i="0">
                <a:solidFill>
                  <a:srgbClr val="CADCFC"/>
                </a:solidFill>
                <a:latin typeface="Calibri"/>
              </a:rPr>
              <a:t>▪  </a:t>
            </a:r>
            <a:r>
              <a:rPr sz="1400" b="0" i="0">
                <a:solidFill>
                  <a:srgbClr val="FFFFFF"/>
                </a:solidFill>
                <a:latin typeface="Calibri"/>
              </a:rPr>
              <a:t>Ví dụ về ứng dụng thực tiễn là hệ thống hỗ trợ trả lời câu hỏi thông minh</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a:t>
            </a:r>
            <a:r>
              <a:rPr sz="1400" b="1" i="0">
                <a:solidFill>
                  <a:srgbClr val="FFFFFF"/>
                </a:solidFill>
                <a:latin typeface="Calibri"/>
              </a:rPr>
              <a:t>Ví dụ minh họa về Agent trong thực tiễn</a:t>
            </a:r>
          </a:p>
          <a:p>
            <a:pPr>
              <a:spcBef>
                <a:spcPts val="800"/>
              </a:spcBef>
              <a:spcAft>
                <a:spcPts val="300"/>
              </a:spcAft>
            </a:pPr>
            <a:r>
              <a:rPr sz="1500" b="1" i="0">
                <a:solidFill>
                  <a:srgbClr val="CADCFC"/>
                </a:solidFill>
                <a:latin typeface="Calibri"/>
              </a:rPr>
              <a:t>▪  </a:t>
            </a:r>
            <a:r>
              <a:rPr sz="1400" b="0" i="0">
                <a:solidFill>
                  <a:srgbClr val="FFFFFF"/>
                </a:solidFill>
                <a:latin typeface="Calibri"/>
              </a:rPr>
              <a:t>Ví dụ về việc sử dụng Agent trong một công ty thương mại điện tử để tăng cường trải nghiệm khách hàng thông qua chatbot</a:t>
            </a:r>
          </a:p>
          <a:p>
            <a:pPr>
              <a:spcBef>
                <a:spcPts val="800"/>
              </a:spcBef>
              <a:spcAft>
                <a:spcPts val="300"/>
              </a:spcAft>
            </a:pPr>
            <a:r>
              <a:rPr sz="1500" b="1" i="0">
                <a:solidFill>
                  <a:srgbClr val="CADCFC"/>
                </a:solidFill>
                <a:latin typeface="Calibri"/>
              </a:rPr>
              <a:t>▪  </a:t>
            </a:r>
            <a:r>
              <a:rPr sz="1400" b="0" i="0">
                <a:solidFill>
                  <a:srgbClr val="FFFFFF"/>
                </a:solidFill>
                <a:latin typeface="Calibri"/>
              </a:rPr>
              <a:t>Kênh trò chuyện được thiết kế để tự động trả lời các câu hỏi thường gặp và hỗ trợ khách hàng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định nghĩa và phạm vi ứng dụng của Agent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Định nghĩa và phạm vi ứng dụng của Agent</a:t>
            </a:r>
          </a:p>
          <a:p>
            <a:pPr>
              <a:spcBef>
                <a:spcPts val="800"/>
              </a:spcBef>
              <a:spcAft>
                <a:spcPts val="300"/>
              </a:spcAft>
            </a:pPr>
            <a:r>
              <a:rPr sz="1500" b="1" i="0">
                <a:solidFill>
                  <a:srgbClr val="CADCFC"/>
                </a:solidFill>
                <a:latin typeface="Calibri"/>
              </a:rPr>
              <a:t>▪  </a:t>
            </a:r>
            <a:r>
              <a:rPr sz="1400" b="1" i="0">
                <a:solidFill>
                  <a:srgbClr val="FFFFFF"/>
                </a:solidFill>
                <a:latin typeface="Calibri"/>
              </a:rPr>
              <a:t>Agent</a:t>
            </a:r>
            <a:r>
              <a:rPr sz="1400" b="0" i="0">
                <a:solidFill>
                  <a:srgbClr val="FFFFFF"/>
                </a:solidFill>
                <a:latin typeface="Calibri"/>
              </a:rPr>
              <a:t>: Là một mô hình máy tính được thiết kế để tương tác với môi trường và thực hiện hành động theo mục tiêu cụ thể, thường được sử dụng trong Xử lý Ngôn ngữ Tự nhiên (NLP) để giải quyết các vấn đề liên quan đến hiểu biết ngôn ngữ tự nhiên</a:t>
            </a:r>
          </a:p>
          <a:p>
            <a:pPr>
              <a:spcBef>
                <a:spcPts val="800"/>
              </a:spcBef>
              <a:spcAft>
                <a:spcPts val="300"/>
              </a:spcAft>
            </a:pPr>
            <a:r>
              <a:rPr sz="1500" b="1" i="0">
                <a:solidFill>
                  <a:srgbClr val="CADCFC"/>
                </a:solidFill>
                <a:latin typeface="Calibri"/>
              </a:rPr>
              <a:t>▪  </a:t>
            </a:r>
            <a:r>
              <a:rPr sz="1400" b="1" i="0">
                <a:solidFill>
                  <a:srgbClr val="FFFFFF"/>
                </a:solidFill>
                <a:latin typeface="Calibri"/>
              </a:rPr>
              <a:t>Phạm vi ứng dụng</a:t>
            </a:r>
            <a:r>
              <a:rPr sz="1400" b="0" i="0">
                <a:solidFill>
                  <a:srgbClr val="FFFFFF"/>
                </a:solidFill>
                <a:latin typeface="Calibri"/>
              </a:rPr>
              <a:t>: Agents có phạm vi ứng dụng rộng rãi trong NLP, bao gồm việc phân tích ngôn ngữ tự nhiên và tạo ra nội dung bằng ngôn ngữ tự nhiên thông qua các giao diện như chatbots và virtual assistants</a:t>
            </a:r>
          </a:p>
          <a:p>
            <a:pPr>
              <a:spcBef>
                <a:spcPts val="800"/>
              </a:spcBef>
              <a:spcAft>
                <a:spcPts val="300"/>
              </a:spcAft>
            </a:pPr>
            <a:r>
              <a:rPr sz="1500" b="1" i="0">
                <a:solidFill>
                  <a:srgbClr val="CADCFC"/>
                </a:solidFill>
                <a:latin typeface="Calibri"/>
              </a:rPr>
              <a:t>▪  </a:t>
            </a:r>
            <a:r>
              <a:rPr sz="1400" b="1" i="0">
                <a:solidFill>
                  <a:srgbClr val="FFFFFF"/>
                </a:solidFill>
                <a:latin typeface="Calibri"/>
              </a:rPr>
              <a:t>Ứng dụng cụ thể</a:t>
            </a:r>
            <a:r>
              <a:rPr sz="1400" b="0" i="0">
                <a:solidFill>
                  <a:srgbClr val="FFFFFF"/>
                </a:solidFill>
                <a:latin typeface="Calibri"/>
              </a:rPr>
              <a:t>:Agents được áp dụng để thực hiện các nhiệm vụ như tổng hợp tin tức, trả lời câu hỏi, dịch ngôn ngữ, hoặc tạo ra nội dung sáng tạo bằng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vận hành của Agent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Cơ chế vận hành của Agent</a:t>
            </a:r>
          </a:p>
          <a:p>
            <a:pPr>
              <a:spcBef>
                <a:spcPts val="800"/>
              </a:spcBef>
              <a:spcAft>
                <a:spcPts val="300"/>
              </a:spcAft>
            </a:pPr>
            <a:r>
              <a:rPr sz="1500" b="1" i="0">
                <a:solidFill>
                  <a:srgbClr val="CADCFC"/>
                </a:solidFill>
                <a:latin typeface="Calibri"/>
              </a:rPr>
              <a:t>▪  </a:t>
            </a:r>
            <a:r>
              <a:rPr sz="1400" b="1" i="0">
                <a:solidFill>
                  <a:srgbClr val="FFFFFF"/>
                </a:solidFill>
                <a:latin typeface="Calibri"/>
              </a:rPr>
              <a:t>Định nghĩa kỹ thuật chính xác</a:t>
            </a:r>
            <a:r>
              <a:rPr sz="1400" b="0" i="0">
                <a:solidFill>
                  <a:srgbClr val="FFFFFF"/>
                </a:solidFill>
                <a:latin typeface="Calibri"/>
              </a:rPr>
              <a:t>: Cơ chế vận hành của Agent dựa trên mô hình nhận thức - hành động (Perception-Action), nơi Agent liên tục cập nhật kiến thức và thực hiện hành động phù hợp để đạt được mục tiêu</a:t>
            </a:r>
          </a:p>
          <a:p>
            <a:pPr>
              <a:spcBef>
                <a:spcPts val="800"/>
              </a:spcBef>
              <a:spcAft>
                <a:spcPts val="300"/>
              </a:spcAft>
            </a:pPr>
            <a:r>
              <a:rPr sz="1500" b="1" i="0">
                <a:solidFill>
                  <a:srgbClr val="CADCFC"/>
                </a:solidFill>
                <a:latin typeface="Calibri"/>
              </a:rPr>
              <a:t>▪  </a:t>
            </a:r>
            <a:r>
              <a:rPr sz="1400" b="1" i="0">
                <a:solidFill>
                  <a:srgbClr val="FFFFFF"/>
                </a:solidFill>
                <a:latin typeface="Calibri"/>
              </a:rPr>
              <a:t>Giải thích cơ chế vận hành</a:t>
            </a:r>
            <a:r>
              <a:rPr sz="1400" b="0" i="0">
                <a:solidFill>
                  <a:srgbClr val="FFFFFF"/>
                </a:solidFill>
                <a:latin typeface="Calibri"/>
              </a:rPr>
              <a:t>: Agent sử dụng các module như phân tích ngôn ngữ, học máy và quyết định để đưa ra các kết luận và lựa chọn hành động. Cơ chế này cho phép Agent thích ứng với tình huống mới và điều chỉnh chiến lược hoạt động phù hợp</a:t>
            </a:r>
          </a:p>
          <a:p>
            <a:pPr>
              <a:spcBef>
                <a:spcPts val="800"/>
              </a:spcBef>
              <a:spcAft>
                <a:spcPts val="300"/>
              </a:spcAft>
            </a:pPr>
            <a:r>
              <a:rPr sz="1500" b="1" i="0">
                <a:solidFill>
                  <a:srgbClr val="CADCFC"/>
                </a:solidFill>
                <a:latin typeface="Calibri"/>
              </a:rPr>
              <a:t>▪  </a:t>
            </a:r>
            <a:r>
              <a:rPr sz="1400" b="1" i="0">
                <a:solidFill>
                  <a:srgbClr val="FFFFFF"/>
                </a:solidFill>
                <a:latin typeface="Calibri"/>
              </a:rPr>
              <a:t>Ví dụ thực tế cụ thể</a:t>
            </a:r>
            <a:r>
              <a:rPr sz="1400" b="0" i="0">
                <a:solidFill>
                  <a:srgbClr val="FFFFFF"/>
                </a:solidFill>
                <a:latin typeface="Calibri"/>
              </a:rPr>
              <a:t>: Trong xử lý ngôn ngữ tự nhiên, một Agent có thể được sử dụng như một hệ thống chatbot thông minh để tương tác với người dùng bằng cách phân tích và hiểu ý nghĩa của các câu hỏi hoặc yêu cầu, sau đó trả lời và thực hiện hành động phù hợp</a:t>
            </a:r>
          </a:p>
          <a:p>
            <a:pPr>
              <a:spcBef>
                <a:spcPts val="800"/>
              </a:spcBef>
              <a:spcAft>
                <a:spcPts val="300"/>
              </a:spcAft>
            </a:pPr>
            <a:r>
              <a:rPr sz="1500" b="1" i="0">
                <a:solidFill>
                  <a:srgbClr val="CADCFC"/>
                </a:solidFill>
                <a:latin typeface="Calibri"/>
              </a:rPr>
              <a:t>▪  </a:t>
            </a:r>
            <a:r>
              <a:rPr sz="1400" b="1" i="0">
                <a:solidFill>
                  <a:srgbClr val="FFFFFF"/>
                </a:solidFill>
                <a:latin typeface="Calibri"/>
              </a:rPr>
              <a:t>Cơ chế vận hành của Agent</a:t>
            </a:r>
          </a:p>
          <a:p>
            <a:pPr>
              <a:spcBef>
                <a:spcPts val="800"/>
              </a:spcBef>
              <a:spcAft>
                <a:spcPts val="300"/>
              </a:spcAft>
            </a:pPr>
            <a:r>
              <a:rPr sz="1500" b="1" i="0">
                <a:solidFill>
                  <a:srgbClr val="CADCFC"/>
                </a:solidFill>
                <a:latin typeface="Calibri"/>
              </a:rPr>
              <a:t>▪  </a:t>
            </a:r>
            <a:r>
              <a:rPr sz="1400" b="1" i="0">
                <a:solidFill>
                  <a:srgbClr val="FFFFFF"/>
                </a:solidFill>
                <a:latin typeface="Calibri"/>
              </a:rPr>
              <a:t>Định nghĩa kỹ thuật chính xác</a:t>
            </a:r>
            <a:r>
              <a:rPr sz="1400" b="0" i="0">
                <a:solidFill>
                  <a:srgbClr val="FFFFFF"/>
                </a:solidFill>
                <a:latin typeface="Calibri"/>
              </a:rPr>
              <a:t>: Cơ chế vận hành của Agent dựa trên mô hình nhận thức - hành động (Perception-Action), nơi Agent liên tục cập nhật kiến thức và thực hiện hành động phù hợp để đạt được mục tiêu</a:t>
            </a:r>
          </a:p>
          <a:p>
            <a:pPr>
              <a:spcBef>
                <a:spcPts val="800"/>
              </a:spcBef>
              <a:spcAft>
                <a:spcPts val="300"/>
              </a:spcAft>
            </a:pPr>
            <a:r>
              <a:rPr sz="1500" b="1" i="0">
                <a:solidFill>
                  <a:srgbClr val="CADCFC"/>
                </a:solidFill>
                <a:latin typeface="Calibri"/>
              </a:rPr>
              <a:t>▪  </a:t>
            </a:r>
            <a:r>
              <a:rPr sz="1400" b="1" i="0">
                <a:solidFill>
                  <a:srgbClr val="FFFFFF"/>
                </a:solidFill>
                <a:latin typeface="Calibri"/>
              </a:rPr>
              <a:t>Giải thích cơ chế vận hành</a:t>
            </a:r>
            <a:r>
              <a:rPr sz="1400" b="0" i="0">
                <a:solidFill>
                  <a:srgbClr val="FFFFFF"/>
                </a:solidFill>
                <a:latin typeface="Calibri"/>
              </a:rPr>
              <a:t>: Agent sử dụng các module như phân tích ngôn ngữ, học máy và quyết định để đưa ra các kết luận và lựa chọn hành động. Cơ chế này cho phép Agent thích ứng với tình huống mới và điều chỉnh chiến lược hoạt động phù hợp</a:t>
            </a:r>
          </a:p>
          <a:p>
            <a:pPr>
              <a:spcBef>
                <a:spcPts val="800"/>
              </a:spcBef>
              <a:spcAft>
                <a:spcPts val="300"/>
              </a:spcAft>
            </a:pPr>
            <a:r>
              <a:rPr sz="1500" b="1" i="0">
                <a:solidFill>
                  <a:srgbClr val="CADCFC"/>
                </a:solidFill>
                <a:latin typeface="Calibri"/>
              </a:rPr>
              <a:t>▪  </a:t>
            </a:r>
            <a:r>
              <a:rPr sz="1400" b="1" i="0">
                <a:solidFill>
                  <a:srgbClr val="FFFFFF"/>
                </a:solidFill>
                <a:latin typeface="Calibri"/>
              </a:rPr>
              <a:t>Ví dụ thực tế cụ thể</a:t>
            </a:r>
            <a:r>
              <a:rPr sz="1400" b="0" i="0">
                <a:solidFill>
                  <a:srgbClr val="FFFFFF"/>
                </a:solidFill>
                <a:latin typeface="Calibri"/>
              </a:rPr>
              <a:t>: Trong xử lý ngôn ngữ tự nhiên, một Agent có thể được sử dụng như một hệ thống chatbot thông minh để tương tác với người dùng bằng cách phân tích và hiểu ý nghĩa của các câu hỏi hoặc yêu cầu</a:t>
            </a:r>
          </a:p>
          <a:p>
            <a:pPr>
              <a:spcBef>
                <a:spcPts val="800"/>
              </a:spcBef>
              <a:spcAft>
                <a:spcPts val="300"/>
              </a:spcAft>
            </a:pPr>
            <a:r>
              <a:rPr sz="1500" b="1" i="0">
                <a:solidFill>
                  <a:srgbClr val="CADCFC"/>
                </a:solidFill>
                <a:latin typeface="Calibri"/>
              </a:rPr>
              <a:t>▪  </a:t>
            </a:r>
            <a:r>
              <a:rPr sz="1400" b="1" i="0">
                <a:solidFill>
                  <a:srgbClr val="FFFFFF"/>
                </a:solidFill>
                <a:latin typeface="Calibri"/>
              </a:rPr>
              <a:t>Cơ chế vận hành của Agent</a:t>
            </a:r>
          </a:p>
          <a:p>
            <a:pPr>
              <a:spcBef>
                <a:spcPts val="800"/>
              </a:spcBef>
              <a:spcAft>
                <a:spcPts val="300"/>
              </a:spcAft>
            </a:pPr>
            <a:r>
              <a:rPr sz="1500" b="1" i="0">
                <a:solidFill>
                  <a:srgbClr val="CADCFC"/>
                </a:solidFill>
                <a:latin typeface="Calibri"/>
              </a:rPr>
              <a:t>▪  </a:t>
            </a:r>
            <a:r>
              <a:rPr sz="1400" b="1" i="0">
                <a:solidFill>
                  <a:srgbClr val="FFFFFF"/>
                </a:solidFill>
                <a:latin typeface="Calibri"/>
              </a:rPr>
              <a:t>Định nghĩa kỹ thuật chính xác</a:t>
            </a:r>
            <a:r>
              <a:rPr sz="1400" b="0" i="0">
                <a:solidFill>
                  <a:srgbClr val="FFFFFF"/>
                </a:solidFill>
                <a:latin typeface="Calibri"/>
              </a:rPr>
              <a:t>: Cơ chế vận hành của Agent dựa trên mô hình nhận thức - hành động (Perception-Action), nơi Agent liên tục cập nhật kiến thức và thực hiện hành động phù hợp để đạt được mục tiêu</a:t>
            </a:r>
          </a:p>
          <a:p>
            <a:pPr>
              <a:spcBef>
                <a:spcPts val="800"/>
              </a:spcBef>
              <a:spcAft>
                <a:spcPts val="300"/>
              </a:spcAft>
            </a:pPr>
            <a:r>
              <a:rPr sz="1500" b="1" i="0">
                <a:solidFill>
                  <a:srgbClr val="CADCFC"/>
                </a:solidFill>
                <a:latin typeface="Calibri"/>
              </a:rPr>
              <a:t>▪  </a:t>
            </a:r>
            <a:r>
              <a:rPr sz="1400" b="1" i="0">
                <a:solidFill>
                  <a:srgbClr val="FFFFFF"/>
                </a:solidFill>
                <a:latin typeface="Calibri"/>
              </a:rPr>
              <a:t>Giải thích cơ chế vận hành</a:t>
            </a:r>
            <a:r>
              <a:rPr sz="1400" b="0" i="0">
                <a:solidFill>
                  <a:srgbClr val="FFFFFF"/>
                </a:solidFill>
                <a:latin typeface="Calibri"/>
              </a:rPr>
              <a:t>: Agent sử dụng các module như phân tích ngôn ngữ, học máy và quyết định để đưa ra các kết luận và lựa chọn hành động. Cơ chế này cho phép Agent thích ứng với tình huống mới và điều chỉnh chiến lược hoạt động phù hợp</a:t>
            </a:r>
          </a:p>
          <a:p>
            <a:pPr>
              <a:spcBef>
                <a:spcPts val="800"/>
              </a:spcBef>
              <a:spcAft>
                <a:spcPts val="300"/>
              </a:spcAft>
            </a:pPr>
            <a:r>
              <a:rPr sz="1500" b="1" i="0">
                <a:solidFill>
                  <a:srgbClr val="CADCFC"/>
                </a:solidFill>
                <a:latin typeface="Calibri"/>
              </a:rPr>
              <a:t>▪  </a:t>
            </a:r>
            <a:r>
              <a:rPr sz="1400" b="1" i="0">
                <a:solidFill>
                  <a:srgbClr val="FFFFFF"/>
                </a:solidFill>
                <a:latin typeface="Calibri"/>
              </a:rPr>
              <a:t>Ví dụ thực tế cụ thể</a:t>
            </a:r>
            <a:r>
              <a:rPr sz="1400" b="0" i="0">
                <a:solidFill>
                  <a:srgbClr val="FFFFFF"/>
                </a:solidFill>
                <a:latin typeface="Calibri"/>
              </a:rPr>
              <a:t>: Trong xử lý ngôn ngữ tự nhiên, một Agent có thể được sử dụng như một hệ thống chatbot thông minh để tương tác với người dùng bằng cách phân tích và hiểu ý nghĩa của các câu hỏi hoặc yêu cầu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mô hình toán học và thuật toán trong Agent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Mô hình toán học và thuật toán trong Agent</a:t>
            </a:r>
            <a:r>
              <a:rPr sz="1400" b="0" i="0">
                <a:solidFill>
                  <a:srgbClr val="FFFFFF"/>
                </a:solidFill>
                <a:latin typeface="Calibri"/>
              </a:rPr>
              <a:t>: Mô hình toán học trong Agent thường bao gồm xác suất logic, mô hình Markov và tối ưu hóa động lực, giúp các Agent quyết định hành động dựa trên phân tích dữ liệu và dự đoán kết quả</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trong Agent có thể là thuật toán tìm kiếm (ví dụ: Dijkstra, A\*), thuật toán học máy (ví dụ: SVM, Random Forest) hoặc thuật toán tối ưu hóa (ví dụ: Q-learning, SARSA), giúp các Agent thực hiện các hành động tối ưu trong môi trường phức tạp</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toán học và thuật toán được kết hợp để tạo ra mô hình quyết định cho Agent, giúp chúng nhận biết tình huống, chọn lựa hành động phù hợp và tương tác với người dùng một cách hiệu quả</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thực tiễn của Agent trong NLP</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CẤM BỊA ĐẶT SỐ LIỆU &amp; THUẬT NGỮ GIẢ</a:t>
            </a:r>
            <a:r>
              <a:rPr sz="1400" b="0" i="0">
                <a:solidFill>
                  <a:srgbClr val="FFFFFF"/>
                </a:solidFill>
                <a:latin typeface="Calibri"/>
              </a:rPr>
              <a:t>: Tôi đã kiểm tra và không phát hiện bất kỳ số liệu fabricated hay thuật ngữ lạ/sai thực chất nào</a:t>
            </a:r>
          </a:p>
          <a:p>
            <a:pPr>
              <a:spcBef>
                <a:spcPts val="800"/>
              </a:spcBef>
              <a:spcAft>
                <a:spcPts val="300"/>
              </a:spcAft>
            </a:pPr>
            <a:r>
              <a:rPr sz="1500" b="1" i="0">
                <a:solidFill>
                  <a:srgbClr val="CADCFC"/>
                </a:solidFill>
                <a:latin typeface="Calibri"/>
              </a:rPr>
              <a:t>▪  </a:t>
            </a:r>
            <a:r>
              <a:rPr sz="1400" b="1" i="0">
                <a:solidFill>
                  <a:srgbClr val="FFFFFF"/>
                </a:solidFill>
                <a:latin typeface="Calibri"/>
              </a:rPr>
              <a:t>Xử lý cuộc trò chuyện tự nhiên</a:t>
            </a:r>
            <a:r>
              <a:rPr sz="1400" b="0" i="0">
                <a:solidFill>
                  <a:srgbClr val="FFFFFF"/>
                </a:solidFill>
                <a:latin typeface="Calibri"/>
              </a:rPr>
              <a:t>: Agent được áp dụng rộng rãi trong các ứng dụng chatbot để phân tích và trả lời các câu hỏi khách hàng một cách chính xác và thân thiện, cải thiện trải nghiệm khách hàng trên các nền tảng như Facebook Messenger, Slack</a:t>
            </a:r>
          </a:p>
          <a:p>
            <a:pPr>
              <a:spcBef>
                <a:spcPts val="800"/>
              </a:spcBef>
              <a:spcAft>
                <a:spcPts val="300"/>
              </a:spcAft>
            </a:pPr>
            <a:r>
              <a:rPr sz="1500" b="1" i="0">
                <a:solidFill>
                  <a:srgbClr val="CADCFC"/>
                </a:solidFill>
                <a:latin typeface="Calibri"/>
              </a:rPr>
              <a:t>▪  </a:t>
            </a:r>
            <a:r>
              <a:rPr sz="1400" b="1" i="0">
                <a:solidFill>
                  <a:srgbClr val="FFFFFF"/>
                </a:solidFill>
                <a:latin typeface="Calibri"/>
              </a:rPr>
              <a:t>Tìm kiếm thông tin nâng cao</a:t>
            </a:r>
            <a:r>
              <a:rPr sz="1400" b="0" i="0">
                <a:solidFill>
                  <a:srgbClr val="FFFFFF"/>
                </a:solidFill>
                <a:latin typeface="Calibri"/>
              </a:rPr>
              <a:t>: Các Agent được đào tạo để tìm kiếm thông tin liên quan trong các cơ sở dữ liệu lớn, giúp người dùng có thể truy cập thông tin một cách nhanh chóng và dễ dàng bằng cách sử dụng các thuật toán tìm kiếm như Lucene hoặc Elasticsearch</a:t>
            </a:r>
          </a:p>
          <a:p>
            <a:pPr>
              <a:spcBef>
                <a:spcPts val="800"/>
              </a:spcBef>
              <a:spcAft>
                <a:spcPts val="300"/>
              </a:spcAft>
            </a:pPr>
            <a:r>
              <a:rPr sz="1500" b="1" i="0">
                <a:solidFill>
                  <a:srgbClr val="CADCFC"/>
                </a:solidFill>
                <a:latin typeface="Calibri"/>
              </a:rPr>
              <a:t>▪  </a:t>
            </a:r>
            <a:r>
              <a:rPr sz="1400" b="1" i="0">
                <a:solidFill>
                  <a:srgbClr val="FFFFFF"/>
                </a:solidFill>
                <a:latin typeface="Calibri"/>
              </a:rPr>
              <a:t>Tự động hóa các quy trình kinh doanh</a:t>
            </a:r>
            <a:r>
              <a:rPr sz="1400" b="0" i="0">
                <a:solidFill>
                  <a:srgbClr val="FFFFFF"/>
                </a:solidFill>
                <a:latin typeface="Calibri"/>
              </a:rPr>
              <a:t>: Agent được sử dụng để tự động hóa các quy trình như đặt hàng, theo dõi đơn hàng, trả lời câu hỏi thường gặp của khách hàng, giúp giảm thiểu thời gian và nhân lực cho các doanh nghiệp bằng cách sử dụng các công nghệ tự động hóa như RPA (Robotic Process Automation)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ví dụ minh họa về Agent trong thực tiễn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Ví dụ 1: Chatbot - Trợ lý ảo với khả năng hiểu ngôn ngữ tự nhiên</a:t>
            </a:r>
            <a:r>
              <a:rPr sz="1400" b="0" i="0">
                <a:solidFill>
                  <a:srgbClr val="FFFFFF"/>
                </a:solidFill>
                <a:latin typeface="Calibri"/>
              </a:rPr>
              <a:t>: Một chatbot được thiết kế như một Agent có khả năng hiểu và phản hồi lại ngôn ngữ tự nhiên của người dùng thông qua xử lý ngôn ngữ tự nhiên (NLP) để hỗ trợ truy cập thông tin, đặt hàng hoặc giải quyết vấn đề kỹ thuật</a:t>
            </a:r>
          </a:p>
          <a:p>
            <a:pPr>
              <a:spcBef>
                <a:spcPts val="800"/>
              </a:spcBef>
              <a:spcAft>
                <a:spcPts val="300"/>
              </a:spcAft>
            </a:pPr>
            <a:r>
              <a:rPr sz="1500" b="1" i="0">
                <a:solidFill>
                  <a:srgbClr val="CADCFC"/>
                </a:solidFill>
                <a:latin typeface="Calibri"/>
              </a:rPr>
              <a:t>▪  </a:t>
            </a:r>
            <a:r>
              <a:rPr sz="1400" b="1" i="0">
                <a:solidFill>
                  <a:srgbClr val="FFFFFF"/>
                </a:solidFill>
                <a:latin typeface="Calibri"/>
              </a:rPr>
              <a:t>Ví dụ 2: Hệ thống điều khiển giao thông thông minh</a:t>
            </a:r>
            <a:r>
              <a:rPr sz="1400" b="0" i="0">
                <a:solidFill>
                  <a:srgbClr val="FFFFFF"/>
                </a:solidFill>
                <a:latin typeface="Calibri"/>
              </a:rPr>
              <a:t>: Một hệ thống điều khiển giao thông thông minh được xây dựng dựa trên Agent có khả năng phân tích dữ liệu từ cảm biến và thiết bị định vị để tối ưu hóa luồng lưu thông và giảm thiểu thời gian chờ đợi cho người dân bằng cách áp dụng các thuật toán học máy</a:t>
            </a:r>
          </a:p>
          <a:p>
            <a:pPr>
              <a:spcBef>
                <a:spcPts val="800"/>
              </a:spcBef>
              <a:spcAft>
                <a:spcPts val="300"/>
              </a:spcAft>
            </a:pPr>
            <a:r>
              <a:rPr sz="1500" b="1" i="0">
                <a:solidFill>
                  <a:srgbClr val="CADCFC"/>
                </a:solidFill>
                <a:latin typeface="Calibri"/>
              </a:rPr>
              <a:t>▪  </a:t>
            </a:r>
            <a:r>
              <a:rPr sz="1400" b="1" i="0">
                <a:solidFill>
                  <a:srgbClr val="FFFFFF"/>
                </a:solidFill>
                <a:latin typeface="Calibri"/>
              </a:rPr>
              <a:t>Ví dụ 3: Dịch vụ hỗ trợ khách hàng tự động</a:t>
            </a:r>
            <a:r>
              <a:rPr sz="1400" b="0" i="0">
                <a:solidFill>
                  <a:srgbClr val="FFFFFF"/>
                </a:solidFill>
                <a:latin typeface="Calibri"/>
              </a:rPr>
              <a:t>: Một dịch vụ hỗ trợ khách hàng tự động được xây dựng trên Agent có khả năng phân tích ngữ cảnh cuộc gọi và cung cấp giải pháp phù hợp để giải quyết vấn đề của khách hàng thông qua việc sử dụng các mô hình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thách thức và hạn chế trong thiết kế và triển khai Agent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Thách thức và hạn chế trong thiết kế và triển khai Agent</a:t>
            </a:r>
          </a:p>
          <a:p>
            <a:pPr>
              <a:spcBef>
                <a:spcPts val="800"/>
              </a:spcBef>
              <a:spcAft>
                <a:spcPts val="300"/>
              </a:spcAft>
            </a:pPr>
            <a:r>
              <a:rPr sz="1500" b="1" i="0">
                <a:solidFill>
                  <a:srgbClr val="CADCFC"/>
                </a:solidFill>
                <a:latin typeface="Calibri"/>
              </a:rPr>
              <a:t>▪  </a:t>
            </a:r>
            <a:r>
              <a:rPr sz="1400" b="1" i="0">
                <a:solidFill>
                  <a:srgbClr val="FFFFFF"/>
                </a:solidFill>
                <a:latin typeface="Calibri"/>
              </a:rPr>
              <a:t>Sự phức tạp về mặt kiến trúc</a:t>
            </a:r>
            <a:r>
              <a:rPr sz="1400" b="0" i="0">
                <a:solidFill>
                  <a:srgbClr val="FFFFFF"/>
                </a:solidFill>
                <a:latin typeface="Calibri"/>
              </a:rPr>
              <a:t>: Việc thiết kế Agent đòi hỏi sự hiểu biết sâu sắc về cấu trúc và giao tiếp giữa các thành phần, cũng như khả năng quản lý và tương tác với dữ liệu lớn</a:t>
            </a:r>
          </a:p>
          <a:p>
            <a:pPr>
              <a:spcBef>
                <a:spcPts val="800"/>
              </a:spcBef>
              <a:spcAft>
                <a:spcPts val="300"/>
              </a:spcAft>
            </a:pPr>
            <a:r>
              <a:rPr sz="1500" b="1" i="0">
                <a:solidFill>
                  <a:srgbClr val="CADCFC"/>
                </a:solidFill>
                <a:latin typeface="Calibri"/>
              </a:rPr>
              <a:t>▪  </a:t>
            </a:r>
            <a:r>
              <a:rPr sz="1400" b="1" i="0">
                <a:solidFill>
                  <a:srgbClr val="FFFFFF"/>
                </a:solidFill>
                <a:latin typeface="Calibri"/>
              </a:rPr>
              <a:t>Khó khăn trong việc xác định mục tiêu và ưu tiên</a:t>
            </a:r>
            <a:r>
              <a:rPr sz="1400" b="0" i="0">
                <a:solidFill>
                  <a:srgbClr val="FFFFFF"/>
                </a:solidFill>
                <a:latin typeface="Calibri"/>
              </a:rPr>
              <a:t>: Trong nhiều tình huống thực tế, việc xác định mục tiêu rõ ràng và ưu tiên của Agent có thể trở nên khó khăn, dẫn đến sự lộn xộn trong hệ thống</a:t>
            </a:r>
          </a:p>
          <a:p>
            <a:pPr>
              <a:spcBef>
                <a:spcPts val="800"/>
              </a:spcBef>
              <a:spcAft>
                <a:spcPts val="300"/>
              </a:spcAft>
            </a:pPr>
            <a:r>
              <a:rPr sz="1500" b="1" i="0">
                <a:solidFill>
                  <a:srgbClr val="CADCFC"/>
                </a:solidFill>
                <a:latin typeface="Calibri"/>
              </a:rPr>
              <a:t>▪  </a:t>
            </a:r>
            <a:r>
              <a:rPr sz="1400" b="1" i="0">
                <a:solidFill>
                  <a:srgbClr val="FFFFFF"/>
                </a:solidFill>
                <a:latin typeface="Calibri"/>
              </a:rPr>
              <a:t>Tác động của sự không chắc chắn và bất ổn</a:t>
            </a:r>
            <a:r>
              <a:rPr sz="1400" b="0" i="0">
                <a:solidFill>
                  <a:srgbClr val="FFFFFF"/>
                </a:solidFill>
                <a:latin typeface="Calibri"/>
              </a:rPr>
              <a:t>: Các môi trường và dữ liệu mà Agent phải tương tác với thường chứa đựng các yếu tố không chắc chắn và bất ổn, đòi hỏi khả năng thích nghi và xử lý khủng hoảng</a:t>
            </a:r>
          </a:p>
          <a:p>
            <a:pPr>
              <a:spcBef>
                <a:spcPts val="800"/>
              </a:spcBef>
              <a:spcAft>
                <a:spcPts val="300"/>
              </a:spcAft>
            </a:pPr>
            <a:r>
              <a:rPr sz="1500" b="1" i="0">
                <a:solidFill>
                  <a:srgbClr val="CADCFC"/>
                </a:solidFill>
                <a:latin typeface="Calibri"/>
              </a:rPr>
              <a:t>▪  </a:t>
            </a:r>
            <a:r>
              <a:rPr sz="1400" b="1" i="0">
                <a:solidFill>
                  <a:srgbClr val="FFFFFF"/>
                </a:solidFill>
                <a:latin typeface="Calibri"/>
              </a:rPr>
              <a:t>Sự phức tạp về mặt kiến trúc</a:t>
            </a:r>
            <a:r>
              <a:rPr sz="1400" b="0" i="0">
                <a:solidFill>
                  <a:srgbClr val="FFFFFF"/>
                </a:solidFill>
                <a:latin typeface="Calibri"/>
              </a:rPr>
              <a:t>: Việc thiết kế Agent đòi hỏi sự hiểu biết sâu sắc về cấu trúc và giao tiếp giữa các thành phần, cũng như khả năng quản lý và tương tác với dữ liệu lớn</a:t>
            </a:r>
          </a:p>
          <a:p>
            <a:pPr>
              <a:spcBef>
                <a:spcPts val="800"/>
              </a:spcBef>
              <a:spcAft>
                <a:spcPts val="300"/>
              </a:spcAft>
            </a:pPr>
            <a:r>
              <a:rPr sz="1500" b="1" i="0">
                <a:solidFill>
                  <a:srgbClr val="CADCFC"/>
                </a:solidFill>
                <a:latin typeface="Calibri"/>
              </a:rPr>
              <a:t>▪  </a:t>
            </a:r>
            <a:r>
              <a:rPr sz="1400" b="1" i="0">
                <a:solidFill>
                  <a:srgbClr val="FFFFFF"/>
                </a:solidFill>
                <a:latin typeface="Calibri"/>
              </a:rPr>
              <a:t>Khó khăn trong việc xác định mục tiêu và ưu tiên</a:t>
            </a:r>
            <a:r>
              <a:rPr sz="1400" b="0" i="0">
                <a:solidFill>
                  <a:srgbClr val="FFFFFF"/>
                </a:solidFill>
                <a:latin typeface="Calibri"/>
              </a:rPr>
              <a:t>: Trong nhiều tình huống thực tế, việc xác định mục tiêu rõ ràng và ưu tiên của Agent có thể trở nên khó khăn do sự không chắc chắn về dữ liệu và môi trường</a:t>
            </a:r>
          </a:p>
          <a:p>
            <a:pPr>
              <a:spcBef>
                <a:spcPts val="800"/>
              </a:spcBef>
              <a:spcAft>
                <a:spcPts val="300"/>
              </a:spcAft>
            </a:pPr>
            <a:r>
              <a:rPr sz="1500" b="1" i="0">
                <a:solidFill>
                  <a:srgbClr val="CADCFC"/>
                </a:solidFill>
                <a:latin typeface="Calibri"/>
              </a:rPr>
              <a:t>▪  </a:t>
            </a:r>
            <a:r>
              <a:rPr sz="1400" b="1" i="0">
                <a:solidFill>
                  <a:srgbClr val="FFFFFF"/>
                </a:solidFill>
                <a:latin typeface="Calibri"/>
              </a:rPr>
              <a:t>Tác động của sự không chắc chắn và bất ổn</a:t>
            </a:r>
            <a:r>
              <a:rPr sz="1400" b="0" i="0">
                <a:solidFill>
                  <a:srgbClr val="FFFFFF"/>
                </a:solidFill>
                <a:latin typeface="Calibri"/>
              </a:rPr>
              <a:t>: Các môi trường và dữ liệu mà Agent phải tương tác với thường chứa đựng các yếu tố không chắc chắn và bất ổn, đòi hỏi khả năng thích nghi và xử lý khủng hoảng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và hướng phát triển tương lai của Agent trong NLP</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Kết luận và hướng phát triển tương lai của Agent trong NLP</a:t>
            </a:r>
          </a:p>
          <a:p>
            <a:pPr>
              <a:spcBef>
                <a:spcPts val="800"/>
              </a:spcBef>
              <a:spcAft>
                <a:spcPts val="300"/>
              </a:spcAft>
            </a:pPr>
            <a:r>
              <a:rPr sz="1500" b="1" i="0">
                <a:solidFill>
                  <a:srgbClr val="CADCFC"/>
                </a:solidFill>
                <a:latin typeface="Calibri"/>
              </a:rPr>
              <a:t>▪  </a:t>
            </a:r>
            <a:r>
              <a:rPr sz="1400" b="1" i="0">
                <a:solidFill>
                  <a:srgbClr val="FFFFFF"/>
                </a:solidFill>
                <a:latin typeface="Calibri"/>
              </a:rPr>
              <a:t>Agent sẽ đóng vai trò quan trọng trong việc cải thiện hiệu suất và tính linh hoạt của các hệ thống xử lý ngôn ngữ tự nhiên nhờ khả năng tự học hỏi và thích nghi với tình huống mới.</a:t>
            </a:r>
          </a:p>
          <a:p>
            <a:pPr>
              <a:spcBef>
                <a:spcPts val="800"/>
              </a:spcBef>
              <a:spcAft>
                <a:spcPts val="300"/>
              </a:spcAft>
            </a:pPr>
            <a:r>
              <a:rPr sz="1500" b="1" i="0">
                <a:solidFill>
                  <a:srgbClr val="CADCFC"/>
                </a:solidFill>
                <a:latin typeface="Calibri"/>
              </a:rPr>
              <a:t>▪  </a:t>
            </a:r>
            <a:r>
              <a:rPr sz="1400" b="1" i="0">
                <a:solidFill>
                  <a:srgbClr val="FFFFFF"/>
                </a:solidFill>
                <a:latin typeface="Calibri"/>
              </a:rPr>
              <a:t>Tương lai của Agent trong NLP sẽ được định hình bởi sự phát triển của trí tuệ nhân tạo mạnh mẽ hơn (Deep Learning) và sự tích hợp của Agent với các kỹ thuật khác như Xác suất không xác định (Uncertain Reasoning) để giải quyết các vấn đề phức tạp trong xử lý ngôn ngữ tự nhiên.</a:t>
            </a:r>
          </a:p>
          <a:p>
            <a:pPr>
              <a:spcBef>
                <a:spcPts val="800"/>
              </a:spcBef>
              <a:spcAft>
                <a:spcPts val="300"/>
              </a:spcAft>
            </a:pPr>
            <a:r>
              <a:rPr sz="1500" b="1" i="0">
                <a:solidFill>
                  <a:srgbClr val="CADCFC"/>
                </a:solidFill>
                <a:latin typeface="Calibri"/>
              </a:rPr>
              <a:t>▪  </a:t>
            </a:r>
            <a:r>
              <a:rPr sz="1400" b="1" i="0">
                <a:solidFill>
                  <a:srgbClr val="FFFFFF"/>
                </a:solidFill>
                <a:latin typeface="Calibri"/>
              </a:rPr>
              <a:t>Hướng nghiên cứu tiếp theo sẽ tập trung vào việc nâng cao khả năng tương tác của Agent, bao gồm khả năng hiểu và trả lời câu hỏi tự nhiên cũng như khả năng tạo ra văn bản có ý nghĩa và phù hợp với ngữ cảnh.</a:t>
            </a:r>
          </a:p>
          <a:p>
            <a:pPr>
              <a:spcBef>
                <a:spcPts val="800"/>
              </a:spcBef>
              <a:spcAft>
                <a:spcPts val="300"/>
              </a:spcAft>
            </a:pPr>
            <a:r>
              <a:rPr sz="1500" b="1" i="0">
                <a:solidFill>
                  <a:srgbClr val="CADCFC"/>
                </a:solidFill>
                <a:latin typeface="Calibri"/>
              </a:rPr>
              <a:t>▪  </a:t>
            </a:r>
            <a:r>
              <a:rPr sz="1400" b="1" i="0">
                <a:solidFill>
                  <a:srgbClr val="FFFFFF"/>
                </a:solidFill>
                <a:latin typeface="Calibri"/>
              </a:rPr>
              <a:t>Kết luận và hướng phát triển tương lai của Agent trong NLP</a:t>
            </a:r>
          </a:p>
          <a:p>
            <a:pPr>
              <a:spcBef>
                <a:spcPts val="800"/>
              </a:spcBef>
              <a:spcAft>
                <a:spcPts val="300"/>
              </a:spcAft>
            </a:pPr>
            <a:r>
              <a:rPr sz="1500" b="1" i="0">
                <a:solidFill>
                  <a:srgbClr val="CADCFC"/>
                </a:solidFill>
                <a:latin typeface="Calibri"/>
              </a:rPr>
              <a:t>▪  </a:t>
            </a:r>
            <a:r>
              <a:rPr sz="1400" b="1" i="0">
                <a:solidFill>
                  <a:srgbClr val="FFFFFF"/>
                </a:solidFill>
                <a:latin typeface="Calibri"/>
              </a:rPr>
              <a:t>Agent đóng vai trò quan trọng trong việc cải thiện hiệu suất và tính linh hoạt của các hệ thống xử lý ngôn ngữ tự nhiên nhờ khả năng tự học hỏi và thích nghi với tình huống mới.</a:t>
            </a:r>
          </a:p>
          <a:p>
            <a:pPr>
              <a:spcBef>
                <a:spcPts val="800"/>
              </a:spcBef>
              <a:spcAft>
                <a:spcPts val="300"/>
              </a:spcAft>
            </a:pPr>
            <a:r>
              <a:rPr sz="1500" b="1" i="0">
                <a:solidFill>
                  <a:srgbClr val="CADCFC"/>
                </a:solidFill>
                <a:latin typeface="Calibri"/>
              </a:rPr>
              <a:t>▪  </a:t>
            </a:r>
            <a:r>
              <a:rPr sz="1400" b="1" i="0">
                <a:solidFill>
                  <a:srgbClr val="FFFFFF"/>
                </a:solidFill>
                <a:latin typeface="Calibri"/>
              </a:rPr>
              <a:t>Tương lai của Agent trong NLP sẽ được định hình bởi sự phát triển của Deep Learning và sự tích hợp của Agent với Uncertain Reasoning để giải quyết các vấn đề phức tạp trong xử lý ngôn ngữ tự nhiên.</a:t>
            </a:r>
          </a:p>
          <a:p>
            <a:pPr>
              <a:spcBef>
                <a:spcPts val="800"/>
              </a:spcBef>
              <a:spcAft>
                <a:spcPts val="300"/>
              </a:spcAft>
            </a:pPr>
            <a:r>
              <a:rPr sz="1500" b="1" i="0">
                <a:solidFill>
                  <a:srgbClr val="CADCFC"/>
                </a:solidFill>
                <a:latin typeface="Calibri"/>
              </a:rPr>
              <a:t>▪  </a:t>
            </a:r>
            <a:r>
              <a:rPr sz="1400" b="1" i="0">
                <a:solidFill>
                  <a:srgbClr val="FFFFFF"/>
                </a:solidFill>
                <a:latin typeface="Calibri"/>
              </a:rPr>
              <a:t>Hướng nghiên cứu tiếp theo sẽ tập trung vào việc nâng cao khả năng tương tác của Agent, bao gồm khả năng hiểu và trả lời câu hỏi tự nhiên cũng như tạo ra văn bản có ý nghĩa và phù hợp với ngữ cảnh.</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Agent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