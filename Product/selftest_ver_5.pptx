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Chủ đề kiểm thử</a:t>
            </a:r>
          </a:p>
        </p:txBody>
      </p:sp>
      <p:sp>
        <p:nvSpPr>
          <p:cNvPr id="5" name="TextBox 4"/>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6" name="TextBox 5"/>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Giới thiệu về Chủ đề kiểm thử</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822960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Định nghĩa, bối</a:t>
            </a:r>
            <a:r>
              <a:rPr sz="1400" b="0" i="0">
                <a:solidFill>
                  <a:srgbClr val="FFFFFF"/>
                </a:solidFill>
                <a:latin typeface="Calibri"/>
              </a:rPr>
              <a:t> cảnh và tầm quan trọng của Giới thiệu về Chủ đề kiểm thử.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400" b="1" i="0">
                <a:solidFill>
                  <a:srgbClr val="FFFFFF"/>
                </a:solidFill>
                <a:latin typeface="Calibri"/>
              </a:rPr>
              <a:t>Xét trên nhiều</a:t>
            </a:r>
            <a:r>
              <a:rPr sz="1400" b="0" i="0">
                <a:solidFill>
                  <a:srgbClr val="FFFFFF"/>
                </a:solidFill>
                <a:latin typeface="Calibri"/>
              </a:rPr>
              <a:t> khía cạnh, 'Giới thiệu về Chủ đề kiểm thử'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400" b="1" i="0">
                <a:solidFill>
                  <a:srgbClr val="FFFFFF"/>
                </a:solidFill>
                <a:latin typeface="Calibri"/>
              </a:rPr>
              <a:t>Cuối cùng, cần</a:t>
            </a:r>
            <a:r>
              <a:rPr sz="1400" b="0" i="0">
                <a:solidFill>
                  <a:srgbClr val="FFFFFF"/>
                </a:solidFill>
                <a:latin typeface="Calibri"/>
              </a:rPr>
              <a:t> kết nối nội dung này với mục tiêu chung của bài thuyết trình nhằm bảo đảm tính mạch lạc, logic và sức thuyết phục.</a:t>
            </a:r>
          </a:p>
        </p:txBody>
      </p:sp>
      <p:sp>
        <p:nvSpPr>
          <p:cNvPr id="5" name="TextBox 4"/>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Chủ đề kiểm thử   |   Trang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Chương trình nghị sự</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822960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Phần 1: Bối</a:t>
            </a:r>
            <a:r>
              <a:rPr sz="1400" b="0" i="0">
                <a:solidFill>
                  <a:srgbClr val="FFFFFF"/>
                </a:solidFill>
                <a:latin typeface="Calibri"/>
              </a:rPr>
              <a:t> cảnh và xu hướng</a:t>
            </a:r>
          </a:p>
          <a:p>
            <a:pPr>
              <a:spcBef>
                <a:spcPts val="800"/>
              </a:spcBef>
              <a:spcAft>
                <a:spcPts val="300"/>
              </a:spcAft>
            </a:pPr>
            <a:r>
              <a:rPr sz="1500" b="1" i="0">
                <a:solidFill>
                  <a:srgbClr val="CADCFC"/>
                </a:solidFill>
                <a:latin typeface="Calibri"/>
              </a:rPr>
              <a:t>▪  </a:t>
            </a:r>
            <a:r>
              <a:rPr sz="1400" b="1" i="0">
                <a:solidFill>
                  <a:srgbClr val="FFFFFF"/>
                </a:solidFill>
                <a:latin typeface="Calibri"/>
              </a:rPr>
              <a:t>Phần 2: Phân</a:t>
            </a:r>
            <a:r>
              <a:rPr sz="1400" b="0" i="0">
                <a:solidFill>
                  <a:srgbClr val="FFFFFF"/>
                </a:solidFill>
                <a:latin typeface="Calibri"/>
              </a:rPr>
              <a:t> tích chi tiết</a:t>
            </a:r>
          </a:p>
          <a:p>
            <a:pPr>
              <a:spcBef>
                <a:spcPts val="800"/>
              </a:spcBef>
              <a:spcAft>
                <a:spcPts val="300"/>
              </a:spcAft>
            </a:pPr>
            <a:r>
              <a:rPr sz="1500" b="1" i="0">
                <a:solidFill>
                  <a:srgbClr val="CADCFC"/>
                </a:solidFill>
                <a:latin typeface="Calibri"/>
              </a:rPr>
              <a:t>▪  </a:t>
            </a:r>
            <a:r>
              <a:rPr sz="1400" b="1" i="0">
                <a:solidFill>
                  <a:srgbClr val="FFFFFF"/>
                </a:solidFill>
                <a:latin typeface="Calibri"/>
              </a:rPr>
              <a:t>Phần 3: Ứng</a:t>
            </a:r>
            <a:r>
              <a:rPr sz="1400" b="0" i="0">
                <a:solidFill>
                  <a:srgbClr val="FFFFFF"/>
                </a:solidFill>
                <a:latin typeface="Calibri"/>
              </a:rPr>
              <a:t> dụng thực tế</a:t>
            </a:r>
          </a:p>
          <a:p>
            <a:pPr>
              <a:spcBef>
                <a:spcPts val="800"/>
              </a:spcBef>
              <a:spcAft>
                <a:spcPts val="300"/>
              </a:spcAft>
            </a:pPr>
            <a:r>
              <a:rPr sz="1500" b="1" i="0">
                <a:solidFill>
                  <a:srgbClr val="CADCFC"/>
                </a:solidFill>
                <a:latin typeface="Calibri"/>
              </a:rPr>
              <a:t>▪  </a:t>
            </a:r>
            <a:r>
              <a:rPr sz="1400" b="1" i="0">
                <a:solidFill>
                  <a:srgbClr val="FFFFFF"/>
                </a:solidFill>
                <a:latin typeface="Calibri"/>
              </a:rPr>
              <a:t>Phần 4: Lợi</a:t>
            </a:r>
            <a:r>
              <a:rPr sz="1400" b="0" i="0">
                <a:solidFill>
                  <a:srgbClr val="FFFFFF"/>
                </a:solidFill>
                <a:latin typeface="Calibri"/>
              </a:rPr>
              <a:t> ích và giá trị mang lại</a:t>
            </a:r>
          </a:p>
        </p:txBody>
      </p:sp>
      <p:sp>
        <p:nvSpPr>
          <p:cNvPr id="5" name="TextBox 4"/>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Chủ đề kiểm thử   |   Trang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Bối cảnh và xu hướng</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822960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Trình bày rõ</a:t>
            </a:r>
            <a:r>
              <a:rPr sz="1400" b="0" i="0">
                <a:solidFill>
                  <a:srgbClr val="FFFFFF"/>
                </a:solidFill>
                <a:latin typeface="Calibri"/>
              </a:rPr>
              <a:t> về: Bối cảnh và xu hướng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400" b="1" i="0">
                <a:solidFill>
                  <a:srgbClr val="FFFFFF"/>
                </a:solidFill>
                <a:latin typeface="Calibri"/>
              </a:rPr>
              <a:t>Xét trên nhiều</a:t>
            </a:r>
            <a:r>
              <a:rPr sz="1400" b="0" i="0">
                <a:solidFill>
                  <a:srgbClr val="FFFFFF"/>
                </a:solidFill>
                <a:latin typeface="Calibri"/>
              </a:rPr>
              <a:t> khía cạnh, 'Bối cảnh và xu hướng'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400" b="1" i="0">
                <a:solidFill>
                  <a:srgbClr val="FFFFFF"/>
                </a:solidFill>
                <a:latin typeface="Calibri"/>
              </a:rPr>
              <a:t>Cuối cùng, cần</a:t>
            </a:r>
            <a:r>
              <a:rPr sz="1400" b="0" i="0">
                <a:solidFill>
                  <a:srgbClr val="FFFFFF"/>
                </a:solidFill>
                <a:latin typeface="Calibri"/>
              </a:rPr>
              <a:t> kết nối nội dung này với mục tiêu chung của bài thuyết trình nhằm bảo đảm tính mạch lạc, logic và sức thuyết phục.</a:t>
            </a:r>
          </a:p>
        </p:txBody>
      </p:sp>
      <p:sp>
        <p:nvSpPr>
          <p:cNvPr id="5" name="TextBox 4"/>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Chủ đề kiểm thử   |   Trang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Phân tích chi tiết</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822960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Trình bày rõ</a:t>
            </a:r>
            <a:r>
              <a:rPr sz="1400" b="0" i="0">
                <a:solidFill>
                  <a:srgbClr val="FFFFFF"/>
                </a:solidFill>
                <a:latin typeface="Calibri"/>
              </a:rPr>
              <a:t> về: Phân tích chi tiết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400" b="1" i="0">
                <a:solidFill>
                  <a:srgbClr val="FFFFFF"/>
                </a:solidFill>
                <a:latin typeface="Calibri"/>
              </a:rPr>
              <a:t>Xét trên nhiều</a:t>
            </a:r>
            <a:r>
              <a:rPr sz="1400" b="0" i="0">
                <a:solidFill>
                  <a:srgbClr val="FFFFFF"/>
                </a:solidFill>
                <a:latin typeface="Calibri"/>
              </a:rPr>
              <a:t> khía cạnh, 'Phân tích chi tiết'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400" b="1" i="0">
                <a:solidFill>
                  <a:srgbClr val="FFFFFF"/>
                </a:solidFill>
                <a:latin typeface="Calibri"/>
              </a:rPr>
              <a:t>Cuối cùng, cần</a:t>
            </a:r>
            <a:r>
              <a:rPr sz="1400" b="0" i="0">
                <a:solidFill>
                  <a:srgbClr val="FFFFFF"/>
                </a:solidFill>
                <a:latin typeface="Calibri"/>
              </a:rPr>
              <a:t> kết nối nội dung này với mục tiêu chung của bài thuyết trình nhằm bảo đảm tính mạch lạc, logic và sức thuyết phục.</a:t>
            </a:r>
          </a:p>
        </p:txBody>
      </p:sp>
      <p:sp>
        <p:nvSpPr>
          <p:cNvPr id="5" name="TextBox 4"/>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Chủ đề kiểm thử   |   Trang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Ứng dụng thực tế</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822960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Trình bày rõ</a:t>
            </a:r>
            <a:r>
              <a:rPr sz="1400" b="0" i="0">
                <a:solidFill>
                  <a:srgbClr val="FFFFFF"/>
                </a:solidFill>
                <a:latin typeface="Calibri"/>
              </a:rPr>
              <a:t> về: Ứng dụng thực tế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400" b="1" i="0">
                <a:solidFill>
                  <a:srgbClr val="FFFFFF"/>
                </a:solidFill>
                <a:latin typeface="Calibri"/>
              </a:rPr>
              <a:t>Xét trên nhiều</a:t>
            </a:r>
            <a:r>
              <a:rPr sz="1400" b="0" i="0">
                <a:solidFill>
                  <a:srgbClr val="FFFFFF"/>
                </a:solidFill>
                <a:latin typeface="Calibri"/>
              </a:rPr>
              <a:t> khía cạnh, 'Ứng dụng thực tế'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400" b="1" i="0">
                <a:solidFill>
                  <a:srgbClr val="FFFFFF"/>
                </a:solidFill>
                <a:latin typeface="Calibri"/>
              </a:rPr>
              <a:t>Cuối cùng, cần</a:t>
            </a:r>
            <a:r>
              <a:rPr sz="1400" b="0" i="0">
                <a:solidFill>
                  <a:srgbClr val="FFFFFF"/>
                </a:solidFill>
                <a:latin typeface="Calibri"/>
              </a:rPr>
              <a:t> kết nối nội dung này với mục tiêu chung của bài thuyết trình nhằm bảo đảm tính mạch lạc, logic và sức thuyết phục.</a:t>
            </a:r>
          </a:p>
        </p:txBody>
      </p:sp>
      <p:sp>
        <p:nvSpPr>
          <p:cNvPr id="5" name="TextBox 4"/>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Chủ đề kiểm thử   |   Trang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Lợi ích và giá trị mang lại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822960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Trình bày rõ</a:t>
            </a:r>
            <a:r>
              <a:rPr sz="1400" b="0" i="0">
                <a:solidFill>
                  <a:srgbClr val="FFFFFF"/>
                </a:solidFill>
                <a:latin typeface="Calibri"/>
              </a:rPr>
              <a:t> về: Lợi ích và giá trị mang lại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400" b="1" i="0">
                <a:solidFill>
                  <a:srgbClr val="FFFFFF"/>
                </a:solidFill>
                <a:latin typeface="Calibri"/>
              </a:rPr>
              <a:t>Xét trên nhiều</a:t>
            </a:r>
            <a:r>
              <a:rPr sz="1400" b="0" i="0">
                <a:solidFill>
                  <a:srgbClr val="FFFFFF"/>
                </a:solidFill>
                <a:latin typeface="Calibri"/>
              </a:rPr>
              <a:t> khía cạnh, 'Lợi ích và giá trị mang lại'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400" b="1" i="0">
                <a:solidFill>
                  <a:srgbClr val="FFFFFF"/>
                </a:solidFill>
                <a:latin typeface="Calibri"/>
              </a:rPr>
              <a:t>Cuối cùng, cần</a:t>
            </a:r>
            <a:r>
              <a:rPr sz="1400" b="0" i="0">
                <a:solidFill>
                  <a:srgbClr val="FFFFFF"/>
                </a:solidFill>
                <a:latin typeface="Calibri"/>
              </a:rPr>
              <a:t> kết nối nội dung này với mục tiêu chung của bài thuyết trình nhằm bảo đảm tính mạch lạc, logic và sức thuyết phục.</a:t>
            </a:r>
          </a:p>
        </p:txBody>
      </p:sp>
      <p:sp>
        <p:nvSpPr>
          <p:cNvPr id="5" name="TextBox 4"/>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Chủ đề kiểm thử   |   Trang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Thách thức và giải pháp</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822960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Trình bày rõ</a:t>
            </a:r>
            <a:r>
              <a:rPr sz="1400" b="0" i="0">
                <a:solidFill>
                  <a:srgbClr val="FFFFFF"/>
                </a:solidFill>
                <a:latin typeface="Calibri"/>
              </a:rPr>
              <a:t> về: Thách thức và giải pháp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400" b="1" i="0">
                <a:solidFill>
                  <a:srgbClr val="FFFFFF"/>
                </a:solidFill>
                <a:latin typeface="Calibri"/>
              </a:rPr>
              <a:t>Xét trên nhiều</a:t>
            </a:r>
            <a:r>
              <a:rPr sz="1400" b="0" i="0">
                <a:solidFill>
                  <a:srgbClr val="FFFFFF"/>
                </a:solidFill>
                <a:latin typeface="Calibri"/>
              </a:rPr>
              <a:t> khía cạnh, 'Thách thức và giải pháp'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400" b="1" i="0">
                <a:solidFill>
                  <a:srgbClr val="FFFFFF"/>
                </a:solidFill>
                <a:latin typeface="Calibri"/>
              </a:rPr>
              <a:t>Cuối cùng, cần</a:t>
            </a:r>
            <a:r>
              <a:rPr sz="1400" b="0" i="0">
                <a:solidFill>
                  <a:srgbClr val="FFFFFF"/>
                </a:solidFill>
                <a:latin typeface="Calibri"/>
              </a:rPr>
              <a:t> kết nối nội dung này với mục tiêu chung của bài thuyết trình nhằm bảo đảm tính mạch lạc, logic và sức thuyết phục.</a:t>
            </a:r>
          </a:p>
        </p:txBody>
      </p:sp>
      <p:sp>
        <p:nvSpPr>
          <p:cNvPr id="5" name="TextBox 4"/>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Chủ đề kiểm thử   |   Trang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Kết luận và Hỏi đáp</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822960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Tóm tắt ý</a:t>
            </a:r>
            <a:r>
              <a:rPr sz="1400" b="0" i="0">
                <a:solidFill>
                  <a:srgbClr val="FFFFFF"/>
                </a:solidFill>
                <a:latin typeface="Calibri"/>
              </a:rPr>
              <a:t> chính và định hướng tương lai.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400" b="1" i="0">
                <a:solidFill>
                  <a:srgbClr val="FFFFFF"/>
                </a:solidFill>
                <a:latin typeface="Calibri"/>
              </a:rPr>
              <a:t>Xét trên nhiều</a:t>
            </a:r>
            <a:r>
              <a:rPr sz="1400" b="0" i="0">
                <a:solidFill>
                  <a:srgbClr val="FFFFFF"/>
                </a:solidFill>
                <a:latin typeface="Calibri"/>
              </a:rPr>
              <a:t> khía cạnh, 'Kết luận và Hỏi đáp'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400" b="1" i="0">
                <a:solidFill>
                  <a:srgbClr val="FFFFFF"/>
                </a:solidFill>
                <a:latin typeface="Calibri"/>
              </a:rPr>
              <a:t>Cuối cùng, cần</a:t>
            </a:r>
            <a:r>
              <a:rPr sz="1400" b="0" i="0">
                <a:solidFill>
                  <a:srgbClr val="FFFFFF"/>
                </a:solidFill>
                <a:latin typeface="Calibri"/>
              </a:rPr>
              <a:t> kết nối nội dung này với mục tiêu chung của bài thuyết trình nhằm bảo đảm tính mạch lạc, logic và sức thuyết phục.</a:t>
            </a:r>
          </a:p>
        </p:txBody>
      </p:sp>
      <p:sp>
        <p:nvSpPr>
          <p:cNvPr id="5" name="TextBox 4"/>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Chủ đề kiểm thử   |   Trang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