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47472" y="2651760"/>
            <a:ext cx="5029200" cy="41148"/>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51560"/>
            <a:ext cx="5212080" cy="1783080"/>
          </a:xfrm>
          <a:prstGeom prst="rect">
            <a:avLst/>
          </a:prstGeom>
          <a:noFill/>
        </p:spPr>
        <p:txBody>
          <a:bodyPr wrap="square">
            <a:spAutoFit/>
          </a:bodyPr>
          <a:lstStyle/>
          <a:p>
            <a:pPr algn="l"/>
            <a:r>
              <a:rPr sz="3400" b="1" i="0">
                <a:solidFill>
                  <a:srgbClr val="FFFFFF"/>
                </a:solidFill>
                <a:latin typeface="Calibri"/>
              </a:rPr>
              <a:t>Chủ đề kiểm thử</a:t>
            </a:r>
          </a:p>
        </p:txBody>
      </p:sp>
      <p:sp>
        <p:nvSpPr>
          <p:cNvPr id="5" name="TextBox 4"/>
          <p:cNvSpPr txBox="1"/>
          <p:nvPr/>
        </p:nvSpPr>
        <p:spPr>
          <a:xfrm>
            <a:off x="502920" y="2926080"/>
            <a:ext cx="5212080" cy="1371600"/>
          </a:xfrm>
          <a:prstGeom prst="rect">
            <a:avLst/>
          </a:prstGeom>
          <a:noFill/>
        </p:spPr>
        <p:txBody>
          <a:bodyPr wrap="square">
            <a:spAutoFit/>
          </a:bodyPr>
          <a:lstStyle/>
          <a:p>
            <a:pPr algn="l"/>
            <a:r>
              <a:rPr sz="1500" b="0" i="1">
                <a:solidFill>
                  <a:srgbClr val="CADCFC"/>
                </a:solidFill>
                <a:latin typeface="Calibri"/>
              </a:rPr>
              <a:t>Bài thuyết trình do AI Agent biên soạn</a:t>
            </a:r>
          </a:p>
        </p:txBody>
      </p:sp>
      <p:sp>
        <p:nvSpPr>
          <p:cNvPr id="6" name="TextBox 5"/>
          <p:cNvSpPr txBox="1"/>
          <p:nvPr/>
        </p:nvSpPr>
        <p:spPr>
          <a:xfrm>
            <a:off x="502920" y="6355080"/>
            <a:ext cx="5212080" cy="320040"/>
          </a:xfrm>
          <a:prstGeom prst="rect">
            <a:avLst/>
          </a:prstGeom>
          <a:noFill/>
        </p:spPr>
        <p:txBody>
          <a:bodyPr wrap="square">
            <a:spAutoFit/>
          </a:bodyPr>
          <a:lstStyle/>
          <a:p>
            <a:r>
              <a:rPr sz="900" b="0" i="0">
                <a:solidFill>
                  <a:srgbClr val="CCCCDD"/>
                </a:solidFill>
                <a:latin typeface="Calibri"/>
              </a:rPr>
              <a:t>AI Slides Maker · Powered by Ollama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Giới thiệu về Chủ đề kiểm thử</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822960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1" i="0">
                <a:solidFill>
                  <a:srgbClr val="FFFFFF"/>
                </a:solidFill>
                <a:latin typeface="Calibri"/>
              </a:rPr>
              <a:t>Định nghĩa, bối</a:t>
            </a:r>
            <a:r>
              <a:rPr sz="1400" b="0" i="0">
                <a:solidFill>
                  <a:srgbClr val="FFFFFF"/>
                </a:solidFill>
                <a:latin typeface="Calibri"/>
              </a:rPr>
              <a:t> cảnh và tầm quan trọng của Giới thiệu về Chủ đề kiểm thử. Đây là nội dung quan trọng cần được phân tích kỹ để người nghe nắm được bản chất và ý nghĩa của vấn đề trong bối cảnh hiện nay.</a:t>
            </a:r>
          </a:p>
          <a:p>
            <a:pPr>
              <a:spcBef>
                <a:spcPts val="800"/>
              </a:spcBef>
              <a:spcAft>
                <a:spcPts val="300"/>
              </a:spcAft>
            </a:pPr>
            <a:r>
              <a:rPr sz="1500" b="1" i="0">
                <a:solidFill>
                  <a:srgbClr val="CADCFC"/>
                </a:solidFill>
                <a:latin typeface="Calibri"/>
              </a:rPr>
              <a:t>▪  </a:t>
            </a:r>
            <a:r>
              <a:rPr sz="1400" b="1" i="0">
                <a:solidFill>
                  <a:srgbClr val="FFFFFF"/>
                </a:solidFill>
                <a:latin typeface="Calibri"/>
              </a:rPr>
              <a:t>Xét trên nhiều</a:t>
            </a:r>
            <a:r>
              <a:rPr sz="1400" b="0" i="0">
                <a:solidFill>
                  <a:srgbClr val="FFFFFF"/>
                </a:solidFill>
                <a:latin typeface="Calibri"/>
              </a:rPr>
              <a:t> khía cạnh, 'Giới thiệu về Chủ đề kiểm thử' cho thấy những điểm đáng chú ý, đòi hỏi cách tiếp cận hệ thống và liên hệ với thực tiễn cụ thể.</a:t>
            </a:r>
          </a:p>
          <a:p>
            <a:pPr>
              <a:spcBef>
                <a:spcPts val="800"/>
              </a:spcBef>
              <a:spcAft>
                <a:spcPts val="300"/>
              </a:spcAft>
            </a:pPr>
            <a:r>
              <a:rPr sz="1500" b="1" i="0">
                <a:solidFill>
                  <a:srgbClr val="CADCFC"/>
                </a:solidFill>
                <a:latin typeface="Calibri"/>
              </a:rPr>
              <a:t>▪  </a:t>
            </a:r>
            <a:r>
              <a:rPr sz="1400" b="1" i="0">
                <a:solidFill>
                  <a:srgbClr val="FFFFFF"/>
                </a:solidFill>
                <a:latin typeface="Calibri"/>
              </a:rPr>
              <a:t>Cuối cùng, cần</a:t>
            </a:r>
            <a:r>
              <a:rPr sz="1400" b="0" i="0">
                <a:solidFill>
                  <a:srgbClr val="FFFFFF"/>
                </a:solidFill>
                <a:latin typeface="Calibri"/>
              </a:rPr>
              <a:t> kết nối nội dung này với mục tiêu chung của bài thuyết trình nhằm bảo đảm tính mạch lạc, logic và sức thuyết phục.</a:t>
            </a:r>
          </a:p>
        </p:txBody>
      </p:sp>
      <p:sp>
        <p:nvSpPr>
          <p:cNvPr id="5" name="TextBox 4"/>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Chủ đề kiểm thử   |   Trang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Chương trình nghị sự</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822960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Phần 1: Bối cảnh và xu hướng</a:t>
            </a:r>
          </a:p>
          <a:p>
            <a:pPr>
              <a:spcBef>
                <a:spcPts val="800"/>
              </a:spcBef>
              <a:spcAft>
                <a:spcPts val="300"/>
              </a:spcAft>
            </a:pPr>
            <a:r>
              <a:rPr sz="1500" b="1" i="0">
                <a:solidFill>
                  <a:srgbClr val="CADCFC"/>
                </a:solidFill>
                <a:latin typeface="Calibri"/>
              </a:rPr>
              <a:t>▪  </a:t>
            </a:r>
            <a:r>
              <a:rPr sz="1400" b="0" i="0">
                <a:solidFill>
                  <a:srgbClr val="FFFFFF"/>
                </a:solidFill>
                <a:latin typeface="Calibri"/>
              </a:rPr>
              <a:t>Phần 2: Phân tích chi tiết</a:t>
            </a:r>
          </a:p>
          <a:p>
            <a:pPr>
              <a:spcBef>
                <a:spcPts val="800"/>
              </a:spcBef>
              <a:spcAft>
                <a:spcPts val="300"/>
              </a:spcAft>
            </a:pPr>
            <a:r>
              <a:rPr sz="1500" b="1" i="0">
                <a:solidFill>
                  <a:srgbClr val="CADCFC"/>
                </a:solidFill>
                <a:latin typeface="Calibri"/>
              </a:rPr>
              <a:t>▪  </a:t>
            </a:r>
            <a:r>
              <a:rPr sz="1400" b="0" i="0">
                <a:solidFill>
                  <a:srgbClr val="FFFFFF"/>
                </a:solidFill>
                <a:latin typeface="Calibri"/>
              </a:rPr>
              <a:t>Phần 3: Ứng dụng thực tế</a:t>
            </a:r>
          </a:p>
          <a:p>
            <a:pPr>
              <a:spcBef>
                <a:spcPts val="800"/>
              </a:spcBef>
              <a:spcAft>
                <a:spcPts val="300"/>
              </a:spcAft>
            </a:pPr>
            <a:r>
              <a:rPr sz="1500" b="1" i="0">
                <a:solidFill>
                  <a:srgbClr val="CADCFC"/>
                </a:solidFill>
                <a:latin typeface="Calibri"/>
              </a:rPr>
              <a:t>▪  </a:t>
            </a:r>
            <a:r>
              <a:rPr sz="1400" b="0" i="0">
                <a:solidFill>
                  <a:srgbClr val="FFFFFF"/>
                </a:solidFill>
                <a:latin typeface="Calibri"/>
              </a:rPr>
              <a:t>Phần 4: Lợi ích và giá trị mang lại</a:t>
            </a:r>
          </a:p>
        </p:txBody>
      </p:sp>
      <p:sp>
        <p:nvSpPr>
          <p:cNvPr id="5" name="TextBox 4"/>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Chủ đề kiểm thử   |   Trang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Bối cảnh và xu hướng</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822960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1" i="0">
                <a:solidFill>
                  <a:srgbClr val="FFFFFF"/>
                </a:solidFill>
                <a:latin typeface="Calibri"/>
              </a:rPr>
              <a:t>Trình bày rõ</a:t>
            </a:r>
            <a:r>
              <a:rPr sz="1400" b="0" i="0">
                <a:solidFill>
                  <a:srgbClr val="FFFFFF"/>
                </a:solidFill>
                <a:latin typeface="Calibri"/>
              </a:rPr>
              <a:t> về: Bối cảnh và xu hướng Đây là nội dung quan trọng cần được phân tích kỹ để người nghe nắm được bản chất và ý nghĩa của vấn đề trong bối cảnh hiện nay.</a:t>
            </a:r>
          </a:p>
          <a:p>
            <a:pPr>
              <a:spcBef>
                <a:spcPts val="800"/>
              </a:spcBef>
              <a:spcAft>
                <a:spcPts val="300"/>
              </a:spcAft>
            </a:pPr>
            <a:r>
              <a:rPr sz="1500" b="1" i="0">
                <a:solidFill>
                  <a:srgbClr val="CADCFC"/>
                </a:solidFill>
                <a:latin typeface="Calibri"/>
              </a:rPr>
              <a:t>▪  </a:t>
            </a:r>
            <a:r>
              <a:rPr sz="1400" b="1" i="0">
                <a:solidFill>
                  <a:srgbClr val="FFFFFF"/>
                </a:solidFill>
                <a:latin typeface="Calibri"/>
              </a:rPr>
              <a:t>Xét trên nhiều</a:t>
            </a:r>
            <a:r>
              <a:rPr sz="1400" b="0" i="0">
                <a:solidFill>
                  <a:srgbClr val="FFFFFF"/>
                </a:solidFill>
                <a:latin typeface="Calibri"/>
              </a:rPr>
              <a:t> khía cạnh, 'Bối cảnh và xu hướng' cho thấy những điểm đáng chú ý, đòi hỏi cách tiếp cận hệ thống và liên hệ với thực tiễn cụ thể.</a:t>
            </a:r>
          </a:p>
          <a:p>
            <a:pPr>
              <a:spcBef>
                <a:spcPts val="800"/>
              </a:spcBef>
              <a:spcAft>
                <a:spcPts val="300"/>
              </a:spcAft>
            </a:pPr>
            <a:r>
              <a:rPr sz="1500" b="1" i="0">
                <a:solidFill>
                  <a:srgbClr val="CADCFC"/>
                </a:solidFill>
                <a:latin typeface="Calibri"/>
              </a:rPr>
              <a:t>▪  </a:t>
            </a:r>
            <a:r>
              <a:rPr sz="1400" b="1" i="0">
                <a:solidFill>
                  <a:srgbClr val="FFFFFF"/>
                </a:solidFill>
                <a:latin typeface="Calibri"/>
              </a:rPr>
              <a:t>Cuối cùng, cần</a:t>
            </a:r>
            <a:r>
              <a:rPr sz="1400" b="0" i="0">
                <a:solidFill>
                  <a:srgbClr val="FFFFFF"/>
                </a:solidFill>
                <a:latin typeface="Calibri"/>
              </a:rPr>
              <a:t> kết nối nội dung này với mục tiêu chung của bài thuyết trình nhằm bảo đảm tính mạch lạc, logic và sức thuyết phục.</a:t>
            </a:r>
          </a:p>
        </p:txBody>
      </p:sp>
      <p:sp>
        <p:nvSpPr>
          <p:cNvPr id="5" name="TextBox 4"/>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Chủ đề kiểm thử   |   Trang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Phân tích chi tiết</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822960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1" i="0">
                <a:solidFill>
                  <a:srgbClr val="FFFFFF"/>
                </a:solidFill>
                <a:latin typeface="Calibri"/>
              </a:rPr>
              <a:t>Trình bày rõ</a:t>
            </a:r>
            <a:r>
              <a:rPr sz="1400" b="0" i="0">
                <a:solidFill>
                  <a:srgbClr val="FFFFFF"/>
                </a:solidFill>
                <a:latin typeface="Calibri"/>
              </a:rPr>
              <a:t> về: Phân tích chi tiết Đây là nội dung quan trọng cần được phân tích kỹ để người nghe nắm được bản chất và ý nghĩa của vấn đề trong bối cảnh hiện nay.</a:t>
            </a:r>
          </a:p>
          <a:p>
            <a:pPr>
              <a:spcBef>
                <a:spcPts val="800"/>
              </a:spcBef>
              <a:spcAft>
                <a:spcPts val="300"/>
              </a:spcAft>
            </a:pPr>
            <a:r>
              <a:rPr sz="1500" b="1" i="0">
                <a:solidFill>
                  <a:srgbClr val="CADCFC"/>
                </a:solidFill>
                <a:latin typeface="Calibri"/>
              </a:rPr>
              <a:t>▪  </a:t>
            </a:r>
            <a:r>
              <a:rPr sz="1400" b="1" i="0">
                <a:solidFill>
                  <a:srgbClr val="FFFFFF"/>
                </a:solidFill>
                <a:latin typeface="Calibri"/>
              </a:rPr>
              <a:t>Xét trên nhiều</a:t>
            </a:r>
            <a:r>
              <a:rPr sz="1400" b="0" i="0">
                <a:solidFill>
                  <a:srgbClr val="FFFFFF"/>
                </a:solidFill>
                <a:latin typeface="Calibri"/>
              </a:rPr>
              <a:t> khía cạnh, 'Phân tích chi tiết' cho thấy những điểm đáng chú ý, đòi hỏi cách tiếp cận hệ thống và liên hệ với thực tiễn cụ thể.</a:t>
            </a:r>
          </a:p>
          <a:p>
            <a:pPr>
              <a:spcBef>
                <a:spcPts val="800"/>
              </a:spcBef>
              <a:spcAft>
                <a:spcPts val="300"/>
              </a:spcAft>
            </a:pPr>
            <a:r>
              <a:rPr sz="1500" b="1" i="0">
                <a:solidFill>
                  <a:srgbClr val="CADCFC"/>
                </a:solidFill>
                <a:latin typeface="Calibri"/>
              </a:rPr>
              <a:t>▪  </a:t>
            </a:r>
            <a:r>
              <a:rPr sz="1400" b="1" i="0">
                <a:solidFill>
                  <a:srgbClr val="FFFFFF"/>
                </a:solidFill>
                <a:latin typeface="Calibri"/>
              </a:rPr>
              <a:t>Cuối cùng, cần</a:t>
            </a:r>
            <a:r>
              <a:rPr sz="1400" b="0" i="0">
                <a:solidFill>
                  <a:srgbClr val="FFFFFF"/>
                </a:solidFill>
                <a:latin typeface="Calibri"/>
              </a:rPr>
              <a:t> kết nối nội dung này với mục tiêu chung của bài thuyết trình nhằm bảo đảm tính mạch lạc, logic và sức thuyết phục.</a:t>
            </a:r>
          </a:p>
        </p:txBody>
      </p:sp>
      <p:sp>
        <p:nvSpPr>
          <p:cNvPr id="5" name="TextBox 4"/>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Chủ đề kiểm thử   |   Trang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Ứng dụng thực tế</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822960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1" i="0">
                <a:solidFill>
                  <a:srgbClr val="FFFFFF"/>
                </a:solidFill>
                <a:latin typeface="Calibri"/>
              </a:rPr>
              <a:t>Trình bày rõ</a:t>
            </a:r>
            <a:r>
              <a:rPr sz="1400" b="0" i="0">
                <a:solidFill>
                  <a:srgbClr val="FFFFFF"/>
                </a:solidFill>
                <a:latin typeface="Calibri"/>
              </a:rPr>
              <a:t> về: Ứng dụng thực tế Đây là nội dung quan trọng cần được phân tích kỹ để người nghe nắm được bản chất và ý nghĩa của vấn đề trong bối cảnh hiện nay.</a:t>
            </a:r>
          </a:p>
          <a:p>
            <a:pPr>
              <a:spcBef>
                <a:spcPts val="800"/>
              </a:spcBef>
              <a:spcAft>
                <a:spcPts val="300"/>
              </a:spcAft>
            </a:pPr>
            <a:r>
              <a:rPr sz="1500" b="1" i="0">
                <a:solidFill>
                  <a:srgbClr val="CADCFC"/>
                </a:solidFill>
                <a:latin typeface="Calibri"/>
              </a:rPr>
              <a:t>▪  </a:t>
            </a:r>
            <a:r>
              <a:rPr sz="1400" b="1" i="0">
                <a:solidFill>
                  <a:srgbClr val="FFFFFF"/>
                </a:solidFill>
                <a:latin typeface="Calibri"/>
              </a:rPr>
              <a:t>Xét trên nhiều</a:t>
            </a:r>
            <a:r>
              <a:rPr sz="1400" b="0" i="0">
                <a:solidFill>
                  <a:srgbClr val="FFFFFF"/>
                </a:solidFill>
                <a:latin typeface="Calibri"/>
              </a:rPr>
              <a:t> khía cạnh, 'Ứng dụng thực tế' cho thấy những điểm đáng chú ý, đòi hỏi cách tiếp cận hệ thống và liên hệ với thực tiễn cụ thể.</a:t>
            </a:r>
          </a:p>
          <a:p>
            <a:pPr>
              <a:spcBef>
                <a:spcPts val="800"/>
              </a:spcBef>
              <a:spcAft>
                <a:spcPts val="300"/>
              </a:spcAft>
            </a:pPr>
            <a:r>
              <a:rPr sz="1500" b="1" i="0">
                <a:solidFill>
                  <a:srgbClr val="CADCFC"/>
                </a:solidFill>
                <a:latin typeface="Calibri"/>
              </a:rPr>
              <a:t>▪  </a:t>
            </a:r>
            <a:r>
              <a:rPr sz="1400" b="1" i="0">
                <a:solidFill>
                  <a:srgbClr val="FFFFFF"/>
                </a:solidFill>
                <a:latin typeface="Calibri"/>
              </a:rPr>
              <a:t>Cuối cùng, cần</a:t>
            </a:r>
            <a:r>
              <a:rPr sz="1400" b="0" i="0">
                <a:solidFill>
                  <a:srgbClr val="FFFFFF"/>
                </a:solidFill>
                <a:latin typeface="Calibri"/>
              </a:rPr>
              <a:t> kết nối nội dung này với mục tiêu chung của bài thuyết trình nhằm bảo đảm tính mạch lạc, logic và sức thuyết phục.</a:t>
            </a:r>
          </a:p>
        </p:txBody>
      </p:sp>
      <p:sp>
        <p:nvSpPr>
          <p:cNvPr id="5" name="TextBox 4"/>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Chủ đề kiểm thử   |   Trang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Lợi ích và giá trị mang lại</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822960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1" i="0">
                <a:solidFill>
                  <a:srgbClr val="FFFFFF"/>
                </a:solidFill>
                <a:latin typeface="Calibri"/>
              </a:rPr>
              <a:t>Trình bày rõ</a:t>
            </a:r>
            <a:r>
              <a:rPr sz="1400" b="0" i="0">
                <a:solidFill>
                  <a:srgbClr val="FFFFFF"/>
                </a:solidFill>
                <a:latin typeface="Calibri"/>
              </a:rPr>
              <a:t> về: Lợi ích và giá trị mang lại Đây là nội dung quan trọng cần được phân tích kỹ để người nghe nắm được bản chất và ý nghĩa của vấn đề trong bối cảnh hiện nay.</a:t>
            </a:r>
          </a:p>
          <a:p>
            <a:pPr>
              <a:spcBef>
                <a:spcPts val="800"/>
              </a:spcBef>
              <a:spcAft>
                <a:spcPts val="300"/>
              </a:spcAft>
            </a:pPr>
            <a:r>
              <a:rPr sz="1500" b="1" i="0">
                <a:solidFill>
                  <a:srgbClr val="CADCFC"/>
                </a:solidFill>
                <a:latin typeface="Calibri"/>
              </a:rPr>
              <a:t>▪  </a:t>
            </a:r>
            <a:r>
              <a:rPr sz="1400" b="1" i="0">
                <a:solidFill>
                  <a:srgbClr val="FFFFFF"/>
                </a:solidFill>
                <a:latin typeface="Calibri"/>
              </a:rPr>
              <a:t>Xét trên nhiều</a:t>
            </a:r>
            <a:r>
              <a:rPr sz="1400" b="0" i="0">
                <a:solidFill>
                  <a:srgbClr val="FFFFFF"/>
                </a:solidFill>
                <a:latin typeface="Calibri"/>
              </a:rPr>
              <a:t> khía cạnh, 'Lợi ích và giá trị mang lại' cho thấy những điểm đáng chú ý, đòi hỏi cách tiếp cận hệ thống và liên hệ với thực tiễn cụ thể.</a:t>
            </a:r>
          </a:p>
          <a:p>
            <a:pPr>
              <a:spcBef>
                <a:spcPts val="800"/>
              </a:spcBef>
              <a:spcAft>
                <a:spcPts val="300"/>
              </a:spcAft>
            </a:pPr>
            <a:r>
              <a:rPr sz="1500" b="1" i="0">
                <a:solidFill>
                  <a:srgbClr val="CADCFC"/>
                </a:solidFill>
                <a:latin typeface="Calibri"/>
              </a:rPr>
              <a:t>▪  </a:t>
            </a:r>
            <a:r>
              <a:rPr sz="1400" b="1" i="0">
                <a:solidFill>
                  <a:srgbClr val="FFFFFF"/>
                </a:solidFill>
                <a:latin typeface="Calibri"/>
              </a:rPr>
              <a:t>Cuối cùng, cần</a:t>
            </a:r>
            <a:r>
              <a:rPr sz="1400" b="0" i="0">
                <a:solidFill>
                  <a:srgbClr val="FFFFFF"/>
                </a:solidFill>
                <a:latin typeface="Calibri"/>
              </a:rPr>
              <a:t> kết nối nội dung này với mục tiêu chung của bài thuyết trình nhằm bảo đảm tính mạch lạc, logic và sức thuyết phục.</a:t>
            </a:r>
          </a:p>
        </p:txBody>
      </p:sp>
      <p:sp>
        <p:nvSpPr>
          <p:cNvPr id="5" name="TextBox 4"/>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Chủ đề kiểm thử   |   Trang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Thách thức và giải pháp</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822960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1" i="0">
                <a:solidFill>
                  <a:srgbClr val="FFFFFF"/>
                </a:solidFill>
                <a:latin typeface="Calibri"/>
              </a:rPr>
              <a:t>Trình bày rõ</a:t>
            </a:r>
            <a:r>
              <a:rPr sz="1400" b="0" i="0">
                <a:solidFill>
                  <a:srgbClr val="FFFFFF"/>
                </a:solidFill>
                <a:latin typeface="Calibri"/>
              </a:rPr>
              <a:t> về: Thách thức và giải pháp Đây là nội dung quan trọng cần được phân tích kỹ để người nghe nắm được bản chất và ý nghĩa của vấn đề trong bối cảnh hiện nay.</a:t>
            </a:r>
          </a:p>
          <a:p>
            <a:pPr>
              <a:spcBef>
                <a:spcPts val="800"/>
              </a:spcBef>
              <a:spcAft>
                <a:spcPts val="300"/>
              </a:spcAft>
            </a:pPr>
            <a:r>
              <a:rPr sz="1500" b="1" i="0">
                <a:solidFill>
                  <a:srgbClr val="CADCFC"/>
                </a:solidFill>
                <a:latin typeface="Calibri"/>
              </a:rPr>
              <a:t>▪  </a:t>
            </a:r>
            <a:r>
              <a:rPr sz="1400" b="1" i="0">
                <a:solidFill>
                  <a:srgbClr val="FFFFFF"/>
                </a:solidFill>
                <a:latin typeface="Calibri"/>
              </a:rPr>
              <a:t>Xét trên nhiều</a:t>
            </a:r>
            <a:r>
              <a:rPr sz="1400" b="0" i="0">
                <a:solidFill>
                  <a:srgbClr val="FFFFFF"/>
                </a:solidFill>
                <a:latin typeface="Calibri"/>
              </a:rPr>
              <a:t> khía cạnh, 'Thách thức và giải pháp' cho thấy những điểm đáng chú ý, đòi hỏi cách tiếp cận hệ thống và liên hệ với thực tiễn cụ thể.</a:t>
            </a:r>
          </a:p>
          <a:p>
            <a:pPr>
              <a:spcBef>
                <a:spcPts val="800"/>
              </a:spcBef>
              <a:spcAft>
                <a:spcPts val="300"/>
              </a:spcAft>
            </a:pPr>
            <a:r>
              <a:rPr sz="1500" b="1" i="0">
                <a:solidFill>
                  <a:srgbClr val="CADCFC"/>
                </a:solidFill>
                <a:latin typeface="Calibri"/>
              </a:rPr>
              <a:t>▪  </a:t>
            </a:r>
            <a:r>
              <a:rPr sz="1400" b="1" i="0">
                <a:solidFill>
                  <a:srgbClr val="FFFFFF"/>
                </a:solidFill>
                <a:latin typeface="Calibri"/>
              </a:rPr>
              <a:t>Cuối cùng, cần</a:t>
            </a:r>
            <a:r>
              <a:rPr sz="1400" b="0" i="0">
                <a:solidFill>
                  <a:srgbClr val="FFFFFF"/>
                </a:solidFill>
                <a:latin typeface="Calibri"/>
              </a:rPr>
              <a:t> kết nối nội dung này với mục tiêu chung của bài thuyết trình nhằm bảo đảm tính mạch lạc, logic và sức thuyết phục.</a:t>
            </a:r>
          </a:p>
        </p:txBody>
      </p:sp>
      <p:sp>
        <p:nvSpPr>
          <p:cNvPr id="5" name="TextBox 4"/>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Chủ đề kiểm thử   |   Trang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Kết luận và Hỏi đáp</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822960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1" i="0">
                <a:solidFill>
                  <a:srgbClr val="FFFFFF"/>
                </a:solidFill>
                <a:latin typeface="Calibri"/>
              </a:rPr>
              <a:t>Tóm tắt ý</a:t>
            </a:r>
            <a:r>
              <a:rPr sz="1400" b="0" i="0">
                <a:solidFill>
                  <a:srgbClr val="FFFFFF"/>
                </a:solidFill>
                <a:latin typeface="Calibri"/>
              </a:rPr>
              <a:t> chính và định hướng tương lai. Đây là nội dung quan trọng cần được phân tích kỹ để người nghe nắm được bản chất và ý nghĩa của vấn đề trong bối cảnh hiện nay.</a:t>
            </a:r>
          </a:p>
          <a:p>
            <a:pPr>
              <a:spcBef>
                <a:spcPts val="800"/>
              </a:spcBef>
              <a:spcAft>
                <a:spcPts val="300"/>
              </a:spcAft>
            </a:pPr>
            <a:r>
              <a:rPr sz="1500" b="1" i="0">
                <a:solidFill>
                  <a:srgbClr val="CADCFC"/>
                </a:solidFill>
                <a:latin typeface="Calibri"/>
              </a:rPr>
              <a:t>▪  </a:t>
            </a:r>
            <a:r>
              <a:rPr sz="1400" b="1" i="0">
                <a:solidFill>
                  <a:srgbClr val="FFFFFF"/>
                </a:solidFill>
                <a:latin typeface="Calibri"/>
              </a:rPr>
              <a:t>Xét trên nhiều</a:t>
            </a:r>
            <a:r>
              <a:rPr sz="1400" b="0" i="0">
                <a:solidFill>
                  <a:srgbClr val="FFFFFF"/>
                </a:solidFill>
                <a:latin typeface="Calibri"/>
              </a:rPr>
              <a:t> khía cạnh, 'Kết luận và Hỏi đáp' cho thấy những điểm đáng chú ý, đòi hỏi cách tiếp cận hệ thống và liên hệ với thực tiễn cụ thể.</a:t>
            </a:r>
          </a:p>
          <a:p>
            <a:pPr>
              <a:spcBef>
                <a:spcPts val="800"/>
              </a:spcBef>
              <a:spcAft>
                <a:spcPts val="300"/>
              </a:spcAft>
            </a:pPr>
            <a:r>
              <a:rPr sz="1500" b="1" i="0">
                <a:solidFill>
                  <a:srgbClr val="CADCFC"/>
                </a:solidFill>
                <a:latin typeface="Calibri"/>
              </a:rPr>
              <a:t>▪  </a:t>
            </a:r>
            <a:r>
              <a:rPr sz="1400" b="1" i="0">
                <a:solidFill>
                  <a:srgbClr val="FFFFFF"/>
                </a:solidFill>
                <a:latin typeface="Calibri"/>
              </a:rPr>
              <a:t>Cuối cùng, cần</a:t>
            </a:r>
            <a:r>
              <a:rPr sz="1400" b="0" i="0">
                <a:solidFill>
                  <a:srgbClr val="FFFFFF"/>
                </a:solidFill>
                <a:latin typeface="Calibri"/>
              </a:rPr>
              <a:t> kết nối nội dung này với mục tiêu chung của bài thuyết trình nhằm bảo đảm tính mạch lạc, logic và sức thuyết phục.</a:t>
            </a:r>
          </a:p>
        </p:txBody>
      </p:sp>
      <p:sp>
        <p:nvSpPr>
          <p:cNvPr id="5" name="TextBox 4"/>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Chủ đề kiểm thử   |   Trang 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