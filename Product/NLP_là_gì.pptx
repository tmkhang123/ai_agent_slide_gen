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Nlp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NLP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(Neuro-Linguistic Programming) là một phương pháp giúp con người thay đổi thói quen nghĩ và hành động của mình bằng cách sử dụng ngôn ngữ và lập trình não</a:t>
            </a:r>
          </a:p>
          <a:p>
            <a:pPr>
              <a:spcBef>
                <a:spcPts val="800"/>
              </a:spcBef>
              <a:spcAft>
                <a:spcPts val="300"/>
              </a:spcAft>
            </a:pPr>
            <a:r>
              <a:rPr sz="1500" b="0" i="0">
                <a:solidFill>
                  <a:srgbClr val="FFFFFF"/>
                </a:solidFill>
                <a:latin typeface="Calibri"/>
              </a:rPr>
              <a:t>▪  Phương pháp này được phát triển bởi **Richard Bandler** và **John Grinder** vào những năm 1970, dựa trên quan sát và phân tích các kỹ năng tư duy và giao tiếp của các chuyên gia trong lĩnh vực tâm lý</a:t>
            </a:r>
          </a:p>
          <a:p>
            <a:pPr>
              <a:spcBef>
                <a:spcPts val="800"/>
              </a:spcBef>
              <a:spcAft>
                <a:spcPts val="300"/>
              </a:spcAft>
            </a:pPr>
            <a:r>
              <a:rPr sz="1500" b="0" i="0">
                <a:solidFill>
                  <a:srgbClr val="FFFFFF"/>
                </a:solidFill>
                <a:latin typeface="Calibri"/>
              </a:rPr>
              <a:t>▪  NLP tập trung vào việc giúp con người nhận thức được điểm yếu của mình và thay đổi chúng bằng cách sử dụng các chiến lược và kỹ thuật mới mẻ</a:t>
            </a:r>
          </a:p>
          <a:p>
            <a:pPr>
              <a:spcBef>
                <a:spcPts val="800"/>
              </a:spcBef>
              <a:spcAft>
                <a:spcPts val="300"/>
              </a:spcAft>
            </a:pPr>
            <a:r>
              <a:rPr sz="1500" b="0" i="0">
                <a:solidFill>
                  <a:srgbClr val="FFFFFF"/>
                </a:solidFill>
                <a:latin typeface="Calibri"/>
              </a:rPr>
              <a:t>▪  Qua đó, người dùng có thể cải thiện khả năng giao tiếp hiệu quả, xây dựng mối quan hệ tốt hơn và đạt được mục tiêu trong cuộc sống</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NLP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Khái niệm và định nghĩa</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là phương pháp cải thiện tiềm năng con người thông qua ngôn ngữ và kinh nghiệm cá nhân</a:t>
            </a:r>
          </a:p>
          <a:p>
            <a:pPr>
              <a:spcBef>
                <a:spcPts val="800"/>
              </a:spcBef>
              <a:spcAft>
                <a:spcPts val="300"/>
              </a:spcAft>
            </a:pPr>
            <a:r>
              <a:rPr sz="1500" b="0" i="0">
                <a:solidFill>
                  <a:srgbClr val="FFFFFF"/>
                </a:solidFill>
                <a:latin typeface="Calibri"/>
              </a:rPr>
              <a:t>▪  Khái niệm về NLP liên quan đến mối liên hệ giữa bộ não (**Neuro**) và ngôn ngữ (**Linguistic**)</a:t>
            </a:r>
          </a:p>
          <a:p>
            <a:pPr>
              <a:spcBef>
                <a:spcPts val="800"/>
              </a:spcBef>
              <a:spcAft>
                <a:spcPts val="300"/>
              </a:spcAft>
            </a:pPr>
            <a:r>
              <a:rPr sz="1500" b="0" i="0">
                <a:solidFill>
                  <a:srgbClr val="FFFFFF"/>
                </a:solidFill>
                <a:latin typeface="Calibri"/>
              </a:rPr>
              <a:t>▪  Định nghĩa chính xác của NLP giúp con người nhận thức, thay đổi và phát triển tiềm năng cá nhân thông qua kỹ thuật phân tích và lập kế hoạch</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Khái niệm và định nghĩa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Lịch sử phát triển của NLP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được **phát triển** vào năm 1970 tại Mỹ do Bandler và Grinder sáng lập dựa trên kinh nghiệm thực tế trong lĩnh vực trị liệu, giáo dục và ngôn ngữ học</a:t>
            </a:r>
          </a:p>
          <a:p>
            <a:pPr>
              <a:spcBef>
                <a:spcPts val="800"/>
              </a:spcBef>
              <a:spcAft>
                <a:spcPts val="300"/>
              </a:spcAft>
            </a:pPr>
            <a:r>
              <a:rPr sz="1500" b="0" i="0">
                <a:solidFill>
                  <a:srgbClr val="FFFFFF"/>
                </a:solidFill>
                <a:latin typeface="Calibri"/>
              </a:rPr>
              <a:t>▪  Từ đó đến nay, NLP đã phát triển mạnh mẽ và trở thành một công cụ hiệu quả để cải thiện kỹ năng giao tiếp</a:t>
            </a:r>
          </a:p>
          <a:p>
            <a:pPr>
              <a:spcBef>
                <a:spcPts val="800"/>
              </a:spcBef>
              <a:spcAft>
                <a:spcPts val="300"/>
              </a:spcAft>
            </a:pPr>
            <a:r>
              <a:rPr sz="1500" b="0" i="0">
                <a:solidFill>
                  <a:srgbClr val="FFFFFF"/>
                </a:solidFill>
                <a:latin typeface="Calibri"/>
              </a:rPr>
              <a:t>▪  Hiện tại, NLP được ứng dụng rộng rãi trong nhiều lĩnh vực như **kinh doanh**, giáo dục, trị liệu tâm lý và nhiều ngành nghề khác nhau trên toàn thế giới</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Lịch sử phát triển của NLP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thực tế của NLP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thực tế của **NLP** có thể thấy rõ trong lĩnh vực kinh doanh và quản lý với việc sử dụng trí tuệ nhân tạo để phân tích và đưa ra quyết định thông minh hơn</a:t>
            </a:r>
          </a:p>
          <a:p>
            <a:pPr>
              <a:spcBef>
                <a:spcPts val="800"/>
              </a:spcBef>
              <a:spcAft>
                <a:spcPts val="300"/>
              </a:spcAft>
            </a:pPr>
            <a:r>
              <a:rPr sz="1500" b="0" i="0">
                <a:solidFill>
                  <a:srgbClr val="FFFFFF"/>
                </a:solidFill>
                <a:latin typeface="Calibri"/>
              </a:rPr>
              <a:t>▪  NLP còn được ứng dụng rộng rãi trong lĩnh vực giáo dục, giúp giảng viên và học sinh tương tác hiệu quả hơn và tối ưu hóa quá trình học tập</a:t>
            </a:r>
          </a:p>
          <a:p>
            <a:pPr>
              <a:spcBef>
                <a:spcPts val="800"/>
              </a:spcBef>
              <a:spcAft>
                <a:spcPts val="300"/>
              </a:spcAft>
            </a:pPr>
            <a:r>
              <a:rPr sz="1500" b="0" i="0">
                <a:solidFill>
                  <a:srgbClr val="FFFFFF"/>
                </a:solidFill>
                <a:latin typeface="Calibri"/>
              </a:rPr>
              <a:t>▪  Ứng dụng **NLP** cũng có thể thấy trong y tế với việc sử dụng trí tuệ nhân tạo để phân tích và dự đoán các kết quả điều trị cho bệnh nhân một cách chính xác hơn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thực tế của NLP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Các kỹ thuật cơ bản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Các **kỹ thuật cơ bản** trong NLP bao gồm lập mô hình, lập chiến lược và lập cấu trúc để phân tích và giải quyết vấn đề một cách hiệu quả</a:t>
            </a:r>
          </a:p>
          <a:p>
            <a:pPr>
              <a:spcBef>
                <a:spcPts val="800"/>
              </a:spcBef>
              <a:spcAft>
                <a:spcPts val="300"/>
              </a:spcAft>
            </a:pPr>
            <a:r>
              <a:rPr sz="1500" b="0" i="0">
                <a:solidFill>
                  <a:srgbClr val="FFFFFF"/>
                </a:solidFill>
                <a:latin typeface="Calibri"/>
              </a:rPr>
              <a:t>▪  Kỹ thuật **lập mô hình** giúp người học hiểu rõ về đặc điểm và hành vi của con người, từ đó đưa ra phương pháp điều chỉnh phù hợp</a:t>
            </a:r>
          </a:p>
          <a:p>
            <a:pPr>
              <a:spcBef>
                <a:spcPts val="800"/>
              </a:spcBef>
              <a:spcAft>
                <a:spcPts val="300"/>
              </a:spcAft>
            </a:pPr>
            <a:r>
              <a:rPr sz="1500" b="0" i="0">
                <a:solidFill>
                  <a:srgbClr val="FFFFFF"/>
                </a:solidFill>
                <a:latin typeface="Calibri"/>
              </a:rPr>
              <a:t>▪  Kỹ thuật **lập chiến lược** hỗ trợ người học xác định mục tiêu và lựa chọn phương án thực hiện cụ thể để đạt được kết quả mong muốn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Các kỹ thuật cơ bản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Vai trò của NLP trong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đóng vai trò quan trọng trong việc cải thiện khả năng hiểu và xử lý ngôn ngữ tự nhiên của AI</a:t>
            </a:r>
          </a:p>
          <a:p>
            <a:pPr>
              <a:spcBef>
                <a:spcPts val="800"/>
              </a:spcBef>
              <a:spcAft>
                <a:spcPts val="300"/>
              </a:spcAft>
            </a:pPr>
            <a:r>
              <a:rPr sz="1500" b="0" i="0">
                <a:solidFill>
                  <a:srgbClr val="FFFFFF"/>
                </a:solidFill>
                <a:latin typeface="Calibri"/>
              </a:rPr>
              <a:t>▪  NLP góp phần vào sự phát triển của trí tuệ nhân tạo bằng cách cung cấp cho các thuật toán khả năng giải mã và nhận dạng mẫu từ dữ liệu ngữ âm và văn bản</a:t>
            </a:r>
          </a:p>
          <a:p>
            <a:pPr>
              <a:spcBef>
                <a:spcPts val="800"/>
              </a:spcBef>
              <a:spcAft>
                <a:spcPts val="300"/>
              </a:spcAft>
            </a:pPr>
            <a:r>
              <a:rPr sz="1500" b="0" i="0">
                <a:solidFill>
                  <a:srgbClr val="FFFFFF"/>
                </a:solidFill>
                <a:latin typeface="Calibri"/>
              </a:rPr>
              <a:t>▪  Cụ thể, vai trò của **NLP** trong AI bao gồm việc xử lý ngôn ngữ tự nhiên, phân tích cảm xúc, nhận diện ý nghĩa và hiểu bối cảnh tình huống</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Vai trò của NLP trong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Ưu và nhược điểm của NLP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giúp cải thiện khả năng giao tiếp và nhận thức của con người bằng cách áp dụng các kỹ thuật và chiến lược cụ thể</a:t>
            </a:r>
          </a:p>
          <a:p>
            <a:pPr>
              <a:spcBef>
                <a:spcPts val="800"/>
              </a:spcBef>
              <a:spcAft>
                <a:spcPts val="300"/>
              </a:spcAft>
            </a:pPr>
            <a:r>
              <a:rPr sz="1500" b="0" i="0">
                <a:solidFill>
                  <a:srgbClr val="FFFFFF"/>
                </a:solidFill>
                <a:latin typeface="Calibri"/>
              </a:rPr>
              <a:t>▪  Ưu điểm của NLP bao gồm tăng cường sự tự tin và khả năng thích ứng trong các tình huống khó khăn, mở rộng tầm nhìn về bản thân và thế giới xung quanh</a:t>
            </a:r>
          </a:p>
          <a:p>
            <a:pPr>
              <a:spcBef>
                <a:spcPts val="800"/>
              </a:spcBef>
              <a:spcAft>
                <a:spcPts val="300"/>
              </a:spcAft>
            </a:pPr>
            <a:r>
              <a:rPr sz="1500" b="0" i="0">
                <a:solidFill>
                  <a:srgbClr val="FFFFFF"/>
                </a:solidFill>
                <a:latin typeface="Calibri"/>
              </a:rPr>
              <a:t>▪  Nhược điểm của NLP có thể bao gồm việc áp dụng sai kỹ thuật hoặc không phù hợp với từng cá nhân, từ đó dẫn đến những kết quả tiêu cực</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Ưu và nhược điểm của NLP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về NLP</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**NLP** (Neuro-Linguistic Programming) là một phương pháp học hỏi và thay đổi hành vi dựa trên nguyên tắc giao tiếp giữa não bộ con người với ngôn ngữ và môi trường xung quanh</a:t>
            </a:r>
          </a:p>
          <a:p>
            <a:pPr>
              <a:spcBef>
                <a:spcPts val="800"/>
              </a:spcBef>
              <a:spcAft>
                <a:spcPts val="300"/>
              </a:spcAft>
            </a:pPr>
            <a:r>
              <a:rPr sz="1500" b="0" i="0">
                <a:solidFill>
                  <a:srgbClr val="FFFFFF"/>
                </a:solidFill>
                <a:latin typeface="Calibri"/>
              </a:rPr>
              <a:t>▪  Phương pháp này giúp người học nhận thức, đánh giá và thay đổi các mô hình tư duy, cảm xúc và hành vi không phù hợp để đạt được mục tiêu cá nhân và chuyên môn hiệu quả hơn</a:t>
            </a:r>
          </a:p>
          <a:p>
            <a:pPr>
              <a:spcBef>
                <a:spcPts val="800"/>
              </a:spcBef>
              <a:spcAft>
                <a:spcPts val="300"/>
              </a:spcAft>
            </a:pPr>
            <a:r>
              <a:rPr sz="1500" b="0" i="0">
                <a:solidFill>
                  <a:srgbClr val="FFFFFF"/>
                </a:solidFill>
                <a:latin typeface="Calibri"/>
              </a:rPr>
              <a:t>▪  Nhờ vào sự kết hợp giữa **khoa học tâm lý**, triết học và kỹ thuật giao tiếp, **NLP** đã trở thành một công cụ hữu ích trong việc phát triển **kiến thức mềm**, quản lý thời gian và tự tin</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về NLP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